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9"/>
        </a:solidFill>
      </p:bgPr>
    </p:bg>
    <p:spTree>
      <p:nvGrpSpPr>
        <p:cNvPr id="1" name=""/>
        <p:cNvGrpSpPr/>
        <p:nvPr/>
      </p:nvGrpSpPr>
      <p:grpSpPr>
        <a:xfrm>
          <a:off x="0" y="0"/>
          <a:ext cx="0" cy="0"/>
          <a:chOff x="0" y="0"/>
          <a:chExt cx="0" cy="0"/>
        </a:xfrm>
      </p:grpSpPr>
      <p:sp>
        <p:nvSpPr>
          <p:cNvPr id="2" name="Text 0"/>
          <p:cNvSpPr/>
          <p:nvPr/>
        </p:nvSpPr>
        <p:spPr>
          <a:xfrm>
            <a:off x="502920" y="2331720"/>
            <a:ext cx="11185855" cy="457200"/>
          </a:xfrm>
          <a:prstGeom prst="rect">
            <a:avLst/>
          </a:prstGeom>
          <a:noFill/>
          <a:ln/>
        </p:spPr>
        <p:txBody>
          <a:bodyPr wrap="square" lIns="0" tIns="0" rIns="0" bIns="0" rtlCol="0" anchor="ctr"/>
          <a:lstStyle/>
          <a:p>
            <a:pPr indent="0" marL="0">
              <a:buNone/>
            </a:pPr>
            <a:r>
              <a:rPr lang="en-US" sz="1600" b="1" spc="300" kern="0" dirty="0">
                <a:solidFill>
                  <a:srgbClr val="CADCFC"/>
                </a:solidFill>
                <a:latin typeface="Calibri" pitchFamily="34" charset="0"/>
                <a:ea typeface="Calibri" pitchFamily="34" charset="-122"/>
                <a:cs typeface="Calibri" pitchFamily="34" charset="-120"/>
              </a:rPr>
              <a:t>INTENT CLASSIFICATION MODEL</a:t>
            </a:r>
            <a:endParaRPr lang="en-US" sz="1600" dirty="0"/>
          </a:p>
        </p:txBody>
      </p:sp>
      <p:sp>
        <p:nvSpPr>
          <p:cNvPr id="3" name="Text 1"/>
          <p:cNvSpPr/>
          <p:nvPr/>
        </p:nvSpPr>
        <p:spPr>
          <a:xfrm>
            <a:off x="502920" y="2743200"/>
            <a:ext cx="11185855" cy="10058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Replacing Dialogflow with an On-Device Intent Classifier</a:t>
            </a:r>
            <a:endParaRPr lang="en-US" sz="3600" dirty="0"/>
          </a:p>
        </p:txBody>
      </p:sp>
      <p:sp>
        <p:nvSpPr>
          <p:cNvPr id="4" name="Text 2"/>
          <p:cNvSpPr/>
          <p:nvPr/>
        </p:nvSpPr>
        <p:spPr>
          <a:xfrm>
            <a:off x="502920" y="3611880"/>
            <a:ext cx="10271455"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English-language model — schema-driven keyword rules + TF-IDF / Logistic Regression classifier</a:t>
            </a:r>
            <a:endParaRPr lang="en-US" sz="1500" dirty="0"/>
          </a:p>
        </p:txBody>
      </p:sp>
      <p:sp>
        <p:nvSpPr>
          <p:cNvPr id="5" name="Text 3"/>
          <p:cNvSpPr/>
          <p:nvPr/>
        </p:nvSpPr>
        <p:spPr>
          <a:xfrm>
            <a:off x="502920" y="4617720"/>
            <a:ext cx="265930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60</a:t>
            </a:r>
            <a:endParaRPr lang="en-US" sz="2600" dirty="0"/>
          </a:p>
        </p:txBody>
      </p:sp>
      <p:sp>
        <p:nvSpPr>
          <p:cNvPr id="6" name="Text 4"/>
          <p:cNvSpPr/>
          <p:nvPr/>
        </p:nvSpPr>
        <p:spPr>
          <a:xfrm>
            <a:off x="502920" y="5120640"/>
            <a:ext cx="2659304" cy="36576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intent classes</a:t>
            </a:r>
            <a:endParaRPr lang="en-US" sz="1150" dirty="0"/>
          </a:p>
        </p:txBody>
      </p:sp>
      <p:sp>
        <p:nvSpPr>
          <p:cNvPr id="7" name="Text 5"/>
          <p:cNvSpPr/>
          <p:nvPr/>
        </p:nvSpPr>
        <p:spPr>
          <a:xfrm>
            <a:off x="3345104" y="4617720"/>
            <a:ext cx="265930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8" name="Text 6"/>
          <p:cNvSpPr/>
          <p:nvPr/>
        </p:nvSpPr>
        <p:spPr>
          <a:xfrm>
            <a:off x="3345104" y="5120640"/>
            <a:ext cx="2659304" cy="36576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on-device stages</a:t>
            </a:r>
            <a:endParaRPr lang="en-US" sz="1150" dirty="0"/>
          </a:p>
        </p:txBody>
      </p:sp>
      <p:sp>
        <p:nvSpPr>
          <p:cNvPr id="9" name="Text 7"/>
          <p:cNvSpPr/>
          <p:nvPr/>
        </p:nvSpPr>
        <p:spPr>
          <a:xfrm>
            <a:off x="6187288" y="4617720"/>
            <a:ext cx="265930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&lt; 5 ms</a:t>
            </a:r>
            <a:endParaRPr lang="en-US" sz="2600" dirty="0"/>
          </a:p>
        </p:txBody>
      </p:sp>
      <p:sp>
        <p:nvSpPr>
          <p:cNvPr id="10" name="Text 8"/>
          <p:cNvSpPr/>
          <p:nvPr/>
        </p:nvSpPr>
        <p:spPr>
          <a:xfrm>
            <a:off x="6187288" y="5120640"/>
            <a:ext cx="2659304" cy="36576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on-device latency</a:t>
            </a:r>
            <a:endParaRPr lang="en-US" sz="1150" dirty="0"/>
          </a:p>
        </p:txBody>
      </p:sp>
      <p:sp>
        <p:nvSpPr>
          <p:cNvPr id="11" name="Text 9"/>
          <p:cNvSpPr/>
          <p:nvPr/>
        </p:nvSpPr>
        <p:spPr>
          <a:xfrm>
            <a:off x="9029471" y="4617720"/>
            <a:ext cx="2659304"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~1.8 MB</a:t>
            </a:r>
            <a:endParaRPr lang="en-US" sz="2600" dirty="0"/>
          </a:p>
        </p:txBody>
      </p:sp>
      <p:sp>
        <p:nvSpPr>
          <p:cNvPr id="12" name="Text 10"/>
          <p:cNvSpPr/>
          <p:nvPr/>
        </p:nvSpPr>
        <p:spPr>
          <a:xfrm>
            <a:off x="9029471" y="5120640"/>
            <a:ext cx="2659304" cy="36576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model footprint</a:t>
            </a:r>
            <a:endParaRPr lang="en-US" sz="1150" dirty="0"/>
          </a:p>
        </p:txBody>
      </p:sp>
      <p:sp>
        <p:nvSpPr>
          <p:cNvPr id="13" name="Text 11"/>
          <p:cNvSpPr/>
          <p:nvPr/>
        </p:nvSpPr>
        <p:spPr>
          <a:xfrm>
            <a:off x="502920" y="6172200"/>
            <a:ext cx="11185855" cy="320040"/>
          </a:xfrm>
          <a:prstGeom prst="rect">
            <a:avLst/>
          </a:prstGeom>
          <a:noFill/>
          <a:ln/>
        </p:spPr>
        <p:txBody>
          <a:bodyPr wrap="square" lIns="0" tIns="0" rIns="0" bIns="0" rtlCol="0" anchor="ctr"/>
          <a:lstStyle/>
          <a:p>
            <a:pPr indent="0" marL="0">
              <a:buNone/>
            </a:pPr>
            <a:r>
              <a:rPr lang="en-US" sz="1050" dirty="0">
                <a:solidFill>
                  <a:srgbClr val="8A93C4"/>
                </a:solidFill>
                <a:latin typeface="Calibri" pitchFamily="34" charset="0"/>
                <a:ea typeface="Calibri" pitchFamily="34" charset="-122"/>
                <a:cs typeface="Calibri" pitchFamily="34" charset="-120"/>
              </a:rPr>
              <a:t>Prepared for: Tech Lead Review   |   Scope: keyword + TF-IDF classifier only (semantic/paraphrase model reviewed separately)   |   Source: production codebase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02920" y="1691640"/>
            <a:ext cx="5410048" cy="1234440"/>
          </a:xfrm>
          <a:prstGeom prst="roundRect">
            <a:avLst>
              <a:gd name="adj" fmla="val 5926"/>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Text 3"/>
          <p:cNvSpPr/>
          <p:nvPr/>
        </p:nvSpPr>
        <p:spPr>
          <a:xfrm>
            <a:off x="685800" y="1801368"/>
            <a:ext cx="822960" cy="548640"/>
          </a:xfrm>
          <a:prstGeom prst="rect">
            <a:avLst/>
          </a:prstGeom>
          <a:noFill/>
          <a:ln/>
        </p:spPr>
        <p:txBody>
          <a:bodyPr wrap="square" lIns="0" tIns="0" rIns="0" bIns="0" rtlCol="0" anchor="ctr"/>
          <a:lstStyle/>
          <a:p>
            <a:pPr indent="0" marL="0">
              <a:buNone/>
            </a:pPr>
            <a:r>
              <a:rPr lang="en-US" sz="2600" b="1" dirty="0">
                <a:solidFill>
                  <a:srgbClr val="9FB4E8"/>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463040" y="1819656"/>
            <a:ext cx="4267048"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Why migrate off Dialogflow</a:t>
            </a:r>
            <a:endParaRPr lang="en-US" sz="1450" dirty="0"/>
          </a:p>
        </p:txBody>
      </p:sp>
      <p:sp>
        <p:nvSpPr>
          <p:cNvPr id="7" name="Text 5"/>
          <p:cNvSpPr/>
          <p:nvPr/>
        </p:nvSpPr>
        <p:spPr>
          <a:xfrm>
            <a:off x="1463040" y="2203704"/>
            <a:ext cx="4267048" cy="64008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The problem, and the hard constraints a hearing-aid app imposes</a:t>
            </a:r>
            <a:endParaRPr lang="en-US" sz="1100" dirty="0"/>
          </a:p>
        </p:txBody>
      </p:sp>
      <p:sp>
        <p:nvSpPr>
          <p:cNvPr id="8" name="Shape 6"/>
          <p:cNvSpPr/>
          <p:nvPr/>
        </p:nvSpPr>
        <p:spPr>
          <a:xfrm>
            <a:off x="6278728" y="1691640"/>
            <a:ext cx="5410048" cy="1234440"/>
          </a:xfrm>
          <a:prstGeom prst="roundRect">
            <a:avLst>
              <a:gd name="adj" fmla="val 5926"/>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9" name="Text 7"/>
          <p:cNvSpPr/>
          <p:nvPr/>
        </p:nvSpPr>
        <p:spPr>
          <a:xfrm>
            <a:off x="6461608" y="1801368"/>
            <a:ext cx="822960" cy="548640"/>
          </a:xfrm>
          <a:prstGeom prst="rect">
            <a:avLst/>
          </a:prstGeom>
          <a:noFill/>
          <a:ln/>
        </p:spPr>
        <p:txBody>
          <a:bodyPr wrap="square" lIns="0" tIns="0" rIns="0" bIns="0" rtlCol="0" anchor="ctr"/>
          <a:lstStyle/>
          <a:p>
            <a:pPr indent="0" marL="0">
              <a:buNone/>
            </a:pPr>
            <a:r>
              <a:rPr lang="en-US" sz="2600" b="1" dirty="0">
                <a:solidFill>
                  <a:srgbClr val="9FB4E8"/>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7238848" y="1819656"/>
            <a:ext cx="4267048"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Architecture: keyword + TF-IDF cascade</a:t>
            </a:r>
            <a:endParaRPr lang="en-US" sz="1450" dirty="0"/>
          </a:p>
        </p:txBody>
      </p:sp>
      <p:sp>
        <p:nvSpPr>
          <p:cNvPr id="11" name="Text 9"/>
          <p:cNvSpPr/>
          <p:nvPr/>
        </p:nvSpPr>
        <p:spPr>
          <a:xfrm>
            <a:off x="7238848" y="2203704"/>
            <a:ext cx="4267048" cy="64008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How the two on-device stages work together</a:t>
            </a:r>
            <a:endParaRPr lang="en-US" sz="1100" dirty="0"/>
          </a:p>
        </p:txBody>
      </p:sp>
      <p:sp>
        <p:nvSpPr>
          <p:cNvPr id="12" name="Shape 10"/>
          <p:cNvSpPr/>
          <p:nvPr/>
        </p:nvSpPr>
        <p:spPr>
          <a:xfrm>
            <a:off x="502920" y="3063240"/>
            <a:ext cx="5410048" cy="1234440"/>
          </a:xfrm>
          <a:prstGeom prst="roundRect">
            <a:avLst>
              <a:gd name="adj" fmla="val 5926"/>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3" name="Text 11"/>
          <p:cNvSpPr/>
          <p:nvPr/>
        </p:nvSpPr>
        <p:spPr>
          <a:xfrm>
            <a:off x="685800" y="3172968"/>
            <a:ext cx="822960" cy="548640"/>
          </a:xfrm>
          <a:prstGeom prst="rect">
            <a:avLst/>
          </a:prstGeom>
          <a:noFill/>
          <a:ln/>
        </p:spPr>
        <p:txBody>
          <a:bodyPr wrap="square" lIns="0" tIns="0" rIns="0" bIns="0" rtlCol="0" anchor="ctr"/>
          <a:lstStyle/>
          <a:p>
            <a:pPr indent="0" marL="0">
              <a:buNone/>
            </a:pPr>
            <a:r>
              <a:rPr lang="en-US" sz="2600" b="1" dirty="0">
                <a:solidFill>
                  <a:srgbClr val="9FB4E8"/>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463040" y="3191256"/>
            <a:ext cx="4267048"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Training data &amp; real accuracy numbers</a:t>
            </a:r>
            <a:endParaRPr lang="en-US" sz="1450" dirty="0"/>
          </a:p>
        </p:txBody>
      </p:sp>
      <p:sp>
        <p:nvSpPr>
          <p:cNvPr id="15" name="Text 13"/>
          <p:cNvSpPr/>
          <p:nvPr/>
        </p:nvSpPr>
        <p:spPr>
          <a:xfrm>
            <a:off x="1463040" y="3575304"/>
            <a:ext cx="4267048" cy="64008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~10K training rows, the current holdout benchmark, honest scores</a:t>
            </a:r>
            <a:endParaRPr lang="en-US" sz="1100" dirty="0"/>
          </a:p>
        </p:txBody>
      </p:sp>
      <p:sp>
        <p:nvSpPr>
          <p:cNvPr id="16" name="Shape 14"/>
          <p:cNvSpPr/>
          <p:nvPr/>
        </p:nvSpPr>
        <p:spPr>
          <a:xfrm>
            <a:off x="6278728" y="3063240"/>
            <a:ext cx="5410048" cy="1234440"/>
          </a:xfrm>
          <a:prstGeom prst="roundRect">
            <a:avLst>
              <a:gd name="adj" fmla="val 5926"/>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7" name="Text 15"/>
          <p:cNvSpPr/>
          <p:nvPr/>
        </p:nvSpPr>
        <p:spPr>
          <a:xfrm>
            <a:off x="6461608" y="3172968"/>
            <a:ext cx="822960" cy="548640"/>
          </a:xfrm>
          <a:prstGeom prst="rect">
            <a:avLst/>
          </a:prstGeom>
          <a:noFill/>
          <a:ln/>
        </p:spPr>
        <p:txBody>
          <a:bodyPr wrap="square" lIns="0" tIns="0" rIns="0" bIns="0" rtlCol="0" anchor="ctr"/>
          <a:lstStyle/>
          <a:p>
            <a:pPr indent="0" marL="0">
              <a:buNone/>
            </a:pPr>
            <a:r>
              <a:rPr lang="en-US" sz="2600" b="1" dirty="0">
                <a:solidFill>
                  <a:srgbClr val="9FB4E8"/>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238848" y="3191256"/>
            <a:ext cx="4267048"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Mobile deployment</a:t>
            </a:r>
            <a:endParaRPr lang="en-US" sz="1450" dirty="0"/>
          </a:p>
        </p:txBody>
      </p:sp>
      <p:sp>
        <p:nvSpPr>
          <p:cNvPr id="19" name="Text 17"/>
          <p:cNvSpPr/>
          <p:nvPr/>
        </p:nvSpPr>
        <p:spPr>
          <a:xfrm>
            <a:off x="7238848" y="3575304"/>
            <a:ext cx="4267048" cy="64008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ONNX Runtime Mobile (Android) vs. two candidate paths on iOS</a:t>
            </a:r>
            <a:endParaRPr lang="en-US" sz="1100" dirty="0"/>
          </a:p>
        </p:txBody>
      </p:sp>
      <p:sp>
        <p:nvSpPr>
          <p:cNvPr id="20" name="Shape 18"/>
          <p:cNvSpPr/>
          <p:nvPr/>
        </p:nvSpPr>
        <p:spPr>
          <a:xfrm>
            <a:off x="502920" y="4434840"/>
            <a:ext cx="5410048" cy="1234440"/>
          </a:xfrm>
          <a:prstGeom prst="roundRect">
            <a:avLst>
              <a:gd name="adj" fmla="val 5926"/>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21" name="Text 19"/>
          <p:cNvSpPr/>
          <p:nvPr/>
        </p:nvSpPr>
        <p:spPr>
          <a:xfrm>
            <a:off x="685800" y="4544568"/>
            <a:ext cx="822960" cy="548640"/>
          </a:xfrm>
          <a:prstGeom prst="rect">
            <a:avLst/>
          </a:prstGeom>
          <a:noFill/>
          <a:ln/>
        </p:spPr>
        <p:txBody>
          <a:bodyPr wrap="square" lIns="0" tIns="0" rIns="0" bIns="0" rtlCol="0" anchor="ctr"/>
          <a:lstStyle/>
          <a:p>
            <a:pPr indent="0" marL="0">
              <a:buNone/>
            </a:pPr>
            <a:r>
              <a:rPr lang="en-US" sz="2600" b="1" dirty="0">
                <a:solidFill>
                  <a:srgbClr val="9FB4E8"/>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1463040" y="4562856"/>
            <a:ext cx="4267048"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Production-readiness gaps</a:t>
            </a:r>
            <a:endParaRPr lang="en-US" sz="1450" dirty="0"/>
          </a:p>
        </p:txBody>
      </p:sp>
      <p:sp>
        <p:nvSpPr>
          <p:cNvPr id="23" name="Text 21"/>
          <p:cNvSpPr/>
          <p:nvPr/>
        </p:nvSpPr>
        <p:spPr>
          <a:xfrm>
            <a:off x="1463040" y="4946904"/>
            <a:ext cx="4267048" cy="64008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What's fixed, what's still open — the unfiltered view</a:t>
            </a:r>
            <a:endParaRPr lang="en-US" sz="1100" dirty="0"/>
          </a:p>
        </p:txBody>
      </p:sp>
      <p:sp>
        <p:nvSpPr>
          <p:cNvPr id="24" name="Shape 22"/>
          <p:cNvSpPr/>
          <p:nvPr/>
        </p:nvSpPr>
        <p:spPr>
          <a:xfrm>
            <a:off x="6278728" y="4434840"/>
            <a:ext cx="5410048" cy="1234440"/>
          </a:xfrm>
          <a:prstGeom prst="roundRect">
            <a:avLst>
              <a:gd name="adj" fmla="val 5926"/>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25" name="Text 23"/>
          <p:cNvSpPr/>
          <p:nvPr/>
        </p:nvSpPr>
        <p:spPr>
          <a:xfrm>
            <a:off x="6461608" y="4544568"/>
            <a:ext cx="822960" cy="548640"/>
          </a:xfrm>
          <a:prstGeom prst="rect">
            <a:avLst/>
          </a:prstGeom>
          <a:noFill/>
          <a:ln/>
        </p:spPr>
        <p:txBody>
          <a:bodyPr wrap="square" lIns="0" tIns="0" rIns="0" bIns="0" rtlCol="0" anchor="ctr"/>
          <a:lstStyle/>
          <a:p>
            <a:pPr indent="0" marL="0">
              <a:buNone/>
            </a:pPr>
            <a:r>
              <a:rPr lang="en-US" sz="2600" b="1" dirty="0">
                <a:solidFill>
                  <a:srgbClr val="9FB4E8"/>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7238848" y="4562856"/>
            <a:ext cx="4267048"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Roadmap</a:t>
            </a:r>
            <a:endParaRPr lang="en-US" sz="1450" dirty="0"/>
          </a:p>
        </p:txBody>
      </p:sp>
      <p:sp>
        <p:nvSpPr>
          <p:cNvPr id="27" name="Text 25"/>
          <p:cNvSpPr/>
          <p:nvPr/>
        </p:nvSpPr>
        <p:spPr>
          <a:xfrm>
            <a:off x="7238848" y="4946904"/>
            <a:ext cx="4267048" cy="64008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Prioritized next steps to get from prototype to shippable</a:t>
            </a:r>
            <a:endParaRPr lang="en-US" sz="1100" dirty="0"/>
          </a:p>
        </p:txBody>
      </p:sp>
      <p:sp>
        <p:nvSpPr>
          <p:cNvPr id="28" name="Text 26"/>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01 · MOTIVATION</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Why We're Moving Off Dialogflow</a:t>
            </a:r>
            <a:endParaRPr lang="en-US" sz="3000" dirty="0"/>
          </a:p>
        </p:txBody>
      </p:sp>
      <p:sp>
        <p:nvSpPr>
          <p:cNvPr id="4" name="Text 2"/>
          <p:cNvSpPr/>
          <p:nvPr/>
        </p:nvSpPr>
        <p:spPr>
          <a:xfrm>
            <a:off x="502920" y="1600200"/>
            <a:ext cx="11185855" cy="548640"/>
          </a:xfrm>
          <a:prstGeom prst="rect">
            <a:avLst/>
          </a:prstGeom>
          <a:noFill/>
          <a:ln/>
        </p:spPr>
        <p:txBody>
          <a:bodyPr wrap="square" lIns="0" tIns="0" rIns="0" bIns="0" rtlCol="0" anchor="ctr"/>
          <a:lstStyle/>
          <a:p>
            <a:pPr indent="0" marL="0">
              <a:buNone/>
            </a:pPr>
            <a:r>
              <a:rPr lang="en-US" sz="4000" dirty="0">
                <a:solidFill>
                  <a:srgbClr val="CADCFC"/>
                </a:solidFill>
                <a:latin typeface="Cambria" pitchFamily="34" charset="0"/>
                <a:ea typeface="Cambria" pitchFamily="34" charset="-122"/>
                <a:cs typeface="Cambria" pitchFamily="34" charset="-120"/>
              </a:rPr>
              <a:t>“</a:t>
            </a:r>
            <a:pPr indent="0" marL="0">
              <a:buNone/>
            </a:pPr>
            <a:r>
              <a:rPr lang="en-US" sz="1700" i="1" dirty="0">
                <a:solidFill>
                  <a:srgbClr val="1E2761"/>
                </a:solidFill>
                <a:latin typeface="Cambria" pitchFamily="34" charset="0"/>
                <a:ea typeface="Cambria" pitchFamily="34" charset="-122"/>
                <a:cs typeface="Cambria" pitchFamily="34" charset="-120"/>
              </a:rPr>
              <a:t>Users speak naturally. Intent classifiers expect scripted phrases.</a:t>
            </a:r>
            <a:endParaRPr lang="en-US" sz="4000" dirty="0"/>
          </a:p>
        </p:txBody>
      </p:sp>
      <p:sp>
        <p:nvSpPr>
          <p:cNvPr id="5" name="Text 3"/>
          <p:cNvSpPr/>
          <p:nvPr/>
        </p:nvSpPr>
        <p:spPr>
          <a:xfrm>
            <a:off x="502920" y="2148840"/>
            <a:ext cx="10271455" cy="457200"/>
          </a:xfrm>
          <a:prstGeom prst="rect">
            <a:avLst/>
          </a:prstGeom>
          <a:noFill/>
          <a:ln/>
        </p:spPr>
        <p:txBody>
          <a:bodyPr wrap="square" lIns="0" tIns="0" rIns="0" bIns="0" rtlCol="0" anchor="ctr"/>
          <a:lstStyle/>
          <a:p>
            <a:pPr indent="0" marL="0">
              <a:buNone/>
            </a:pPr>
            <a:r>
              <a:rPr lang="en-US" sz="1250" dirty="0">
                <a:solidFill>
                  <a:srgbClr val="5C6B8A"/>
                </a:solidFill>
                <a:latin typeface="Calibri" pitchFamily="34" charset="0"/>
                <a:ea typeface="Calibri" pitchFamily="34" charset="-122"/>
                <a:cs typeface="Calibri" pitchFamily="34" charset="-120"/>
              </a:rPr>
              <a:t>"I can't hear very well" is not "volume up" — and a hearing-aid app that misfires on that gap erodes user trust in the device itself.</a:t>
            </a:r>
            <a:endParaRPr lang="en-US" sz="1250" dirty="0"/>
          </a:p>
        </p:txBody>
      </p:sp>
      <p:sp>
        <p:nvSpPr>
          <p:cNvPr id="6" name="Shape 4"/>
          <p:cNvSpPr/>
          <p:nvPr/>
        </p:nvSpPr>
        <p:spPr>
          <a:xfrm>
            <a:off x="502920" y="2834640"/>
            <a:ext cx="5410048" cy="3108960"/>
          </a:xfrm>
          <a:prstGeom prst="roundRect">
            <a:avLst>
              <a:gd name="adj" fmla="val 2353"/>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7" name="Text 5"/>
          <p:cNvSpPr/>
          <p:nvPr/>
        </p:nvSpPr>
        <p:spPr>
          <a:xfrm>
            <a:off x="777240" y="3017520"/>
            <a:ext cx="4861408" cy="365760"/>
          </a:xfrm>
          <a:prstGeom prst="rect">
            <a:avLst/>
          </a:prstGeom>
          <a:noFill/>
          <a:ln/>
        </p:spPr>
        <p:txBody>
          <a:bodyPr wrap="square" lIns="0" tIns="0" rIns="0" bIns="0" rtlCol="0" anchor="ctr"/>
          <a:lstStyle/>
          <a:p>
            <a:pPr indent="0" marL="0">
              <a:buNone/>
            </a:pPr>
            <a:r>
              <a:rPr lang="en-US" sz="1500" b="1" dirty="0">
                <a:solidFill>
                  <a:srgbClr val="A32B26"/>
                </a:solidFill>
                <a:latin typeface="Calibri" pitchFamily="34" charset="0"/>
                <a:ea typeface="Calibri" pitchFamily="34" charset="-122"/>
                <a:cs typeface="Calibri" pitchFamily="34" charset="-120"/>
              </a:rPr>
              <a:t>Current state — Dialogflow</a:t>
            </a:r>
            <a:endParaRPr lang="en-US" sz="1500" dirty="0"/>
          </a:p>
        </p:txBody>
      </p:sp>
      <p:sp>
        <p:nvSpPr>
          <p:cNvPr id="8" name="Text 6"/>
          <p:cNvSpPr/>
          <p:nvPr/>
        </p:nvSpPr>
        <p:spPr>
          <a:xfrm>
            <a:off x="777240" y="3474720"/>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Every classification is a network round-trip — fails completely offline</a:t>
            </a:r>
            <a:endParaRPr lang="en-US" sz="1150" dirty="0"/>
          </a:p>
        </p:txBody>
      </p:sp>
      <p:sp>
        <p:nvSpPr>
          <p:cNvPr id="9" name="Text 7"/>
          <p:cNvSpPr/>
          <p:nvPr/>
        </p:nvSpPr>
        <p:spPr>
          <a:xfrm>
            <a:off x="777240" y="4041648"/>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Cloud round-trip latency unsuitable for a real-time hearing aid control loop</a:t>
            </a:r>
            <a:endParaRPr lang="en-US" sz="1150" dirty="0"/>
          </a:p>
        </p:txBody>
      </p:sp>
      <p:sp>
        <p:nvSpPr>
          <p:cNvPr id="10" name="Text 8"/>
          <p:cNvSpPr/>
          <p:nvPr/>
        </p:nvSpPr>
        <p:spPr>
          <a:xfrm>
            <a:off x="777240" y="4608576"/>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User utterances (some medical-context) leave the device to a third-party service</a:t>
            </a:r>
            <a:endParaRPr lang="en-US" sz="1150" dirty="0"/>
          </a:p>
        </p:txBody>
      </p:sp>
      <p:sp>
        <p:nvSpPr>
          <p:cNvPr id="11" name="Text 9"/>
          <p:cNvSpPr/>
          <p:nvPr/>
        </p:nvSpPr>
        <p:spPr>
          <a:xfrm>
            <a:off x="777240" y="5175504"/>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Ongoing per-call API cost that scales with usage</a:t>
            </a:r>
            <a:endParaRPr lang="en-US" sz="1150" dirty="0"/>
          </a:p>
        </p:txBody>
      </p:sp>
      <p:sp>
        <p:nvSpPr>
          <p:cNvPr id="12" name="Shape 10"/>
          <p:cNvSpPr/>
          <p:nvPr/>
        </p:nvSpPr>
        <p:spPr>
          <a:xfrm>
            <a:off x="6278728" y="2834640"/>
            <a:ext cx="5410048" cy="3108960"/>
          </a:xfrm>
          <a:prstGeom prst="roundRect">
            <a:avLst>
              <a:gd name="adj" fmla="val 2353"/>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3" name="Text 11"/>
          <p:cNvSpPr/>
          <p:nvPr/>
        </p:nvSpPr>
        <p:spPr>
          <a:xfrm>
            <a:off x="6553048" y="3017520"/>
            <a:ext cx="4861408" cy="365760"/>
          </a:xfrm>
          <a:prstGeom prst="rect">
            <a:avLst/>
          </a:prstGeom>
          <a:noFill/>
          <a:ln/>
        </p:spPr>
        <p:txBody>
          <a:bodyPr wrap="square" lIns="0" tIns="0" rIns="0" bIns="0" rtlCol="0" anchor="ctr"/>
          <a:lstStyle/>
          <a:p>
            <a:pPr indent="0" marL="0">
              <a:buNone/>
            </a:pPr>
            <a:r>
              <a:rPr lang="en-US" sz="1500" b="1" dirty="0">
                <a:solidFill>
                  <a:srgbClr val="1E7145"/>
                </a:solidFill>
                <a:latin typeface="Calibri" pitchFamily="34" charset="0"/>
                <a:ea typeface="Calibri" pitchFamily="34" charset="-122"/>
                <a:cs typeface="Calibri" pitchFamily="34" charset="-120"/>
              </a:rPr>
              <a:t>Target state — on-device classifier</a:t>
            </a:r>
            <a:endParaRPr lang="en-US" sz="1500" dirty="0"/>
          </a:p>
        </p:txBody>
      </p:sp>
      <p:sp>
        <p:nvSpPr>
          <p:cNvPr id="14" name="Text 12"/>
          <p:cNvSpPr/>
          <p:nvPr/>
        </p:nvSpPr>
        <p:spPr>
          <a:xfrm>
            <a:off x="6553048" y="3474720"/>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Classification runs fully on-device — works with zero connectivity</a:t>
            </a:r>
            <a:endParaRPr lang="en-US" sz="1150" dirty="0"/>
          </a:p>
        </p:txBody>
      </p:sp>
      <p:sp>
        <p:nvSpPr>
          <p:cNvPr id="15" name="Text 13"/>
          <p:cNvSpPr/>
          <p:nvPr/>
        </p:nvSpPr>
        <p:spPr>
          <a:xfrm>
            <a:off x="6553048" y="4041648"/>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Under 5ms end-to-end latency on modern ARM (A-series / Snapdragon 6xx)</a:t>
            </a:r>
            <a:endParaRPr lang="en-US" sz="1150" dirty="0"/>
          </a:p>
        </p:txBody>
      </p:sp>
      <p:sp>
        <p:nvSpPr>
          <p:cNvPr id="16" name="Text 14"/>
          <p:cNvSpPr/>
          <p:nvPr/>
        </p:nvSpPr>
        <p:spPr>
          <a:xfrm>
            <a:off x="6553048" y="4608576"/>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Raw utterances never leave the device for the classification path</a:t>
            </a:r>
            <a:endParaRPr lang="en-US" sz="1150" dirty="0"/>
          </a:p>
        </p:txBody>
      </p:sp>
      <p:sp>
        <p:nvSpPr>
          <p:cNvPr id="17" name="Text 15"/>
          <p:cNvSpPr/>
          <p:nvPr/>
        </p:nvSpPr>
        <p:spPr>
          <a:xfrm>
            <a:off x="6553048" y="5175504"/>
            <a:ext cx="486140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Zero marginal cost per classification once shipped</a:t>
            </a:r>
            <a:endParaRPr lang="en-US" sz="1150" dirty="0"/>
          </a:p>
        </p:txBody>
      </p:sp>
      <p:sp>
        <p:nvSpPr>
          <p:cNvPr id="18" name="Text 16"/>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01 · MOTIVATION</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Hard Constraints We're Designing Against</a:t>
            </a:r>
            <a:endParaRPr lang="en-US" sz="3000" dirty="0"/>
          </a:p>
        </p:txBody>
      </p:sp>
      <p:sp>
        <p:nvSpPr>
          <p:cNvPr id="4" name="Shape 2"/>
          <p:cNvSpPr/>
          <p:nvPr/>
        </p:nvSpPr>
        <p:spPr>
          <a:xfrm>
            <a:off x="502920" y="1691640"/>
            <a:ext cx="5318608" cy="1737360"/>
          </a:xfrm>
          <a:prstGeom prst="roundRect">
            <a:avLst>
              <a:gd name="adj" fmla="val 4211"/>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Shape 3"/>
          <p:cNvSpPr/>
          <p:nvPr/>
        </p:nvSpPr>
        <p:spPr>
          <a:xfrm>
            <a:off x="777240" y="1965960"/>
            <a:ext cx="457200" cy="457200"/>
          </a:xfrm>
          <a:prstGeom prst="ellipse">
            <a:avLst/>
          </a:prstGeom>
          <a:solidFill>
            <a:srgbClr val="1E2761"/>
          </a:solidFill>
          <a:ln/>
        </p:spPr>
      </p:sp>
      <p:sp>
        <p:nvSpPr>
          <p:cNvPr id="6" name="Text 4"/>
          <p:cNvSpPr/>
          <p:nvPr/>
        </p:nvSpPr>
        <p:spPr>
          <a:xfrm>
            <a:off x="77724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1947672"/>
            <a:ext cx="4129888"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Fully offline</a:t>
            </a:r>
            <a:endParaRPr lang="en-US" sz="1600" dirty="0"/>
          </a:p>
        </p:txBody>
      </p:sp>
      <p:sp>
        <p:nvSpPr>
          <p:cNvPr id="8" name="Text 6"/>
          <p:cNvSpPr/>
          <p:nvPr/>
        </p:nvSpPr>
        <p:spPr>
          <a:xfrm>
            <a:off x="1417320" y="2350008"/>
            <a:ext cx="4129888" cy="91440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No cloud round-trip, ever. The model and every dependency ship inside the app bundle.</a:t>
            </a:r>
            <a:endParaRPr lang="en-US" sz="1200" dirty="0"/>
          </a:p>
        </p:txBody>
      </p:sp>
      <p:sp>
        <p:nvSpPr>
          <p:cNvPr id="9" name="Shape 7"/>
          <p:cNvSpPr/>
          <p:nvPr/>
        </p:nvSpPr>
        <p:spPr>
          <a:xfrm>
            <a:off x="6370168" y="1691640"/>
            <a:ext cx="5318608" cy="1737360"/>
          </a:xfrm>
          <a:prstGeom prst="roundRect">
            <a:avLst>
              <a:gd name="adj" fmla="val 4211"/>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0" name="Shape 8"/>
          <p:cNvSpPr/>
          <p:nvPr/>
        </p:nvSpPr>
        <p:spPr>
          <a:xfrm>
            <a:off x="6644488" y="1965960"/>
            <a:ext cx="457200" cy="457200"/>
          </a:xfrm>
          <a:prstGeom prst="ellipse">
            <a:avLst/>
          </a:prstGeom>
          <a:solidFill>
            <a:srgbClr val="1E2761"/>
          </a:solidFill>
          <a:ln/>
        </p:spPr>
      </p:sp>
      <p:sp>
        <p:nvSpPr>
          <p:cNvPr id="11" name="Text 9"/>
          <p:cNvSpPr/>
          <p:nvPr/>
        </p:nvSpPr>
        <p:spPr>
          <a:xfrm>
            <a:off x="6644488"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284568" y="1947672"/>
            <a:ext cx="4129888"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Low-power hardware</a:t>
            </a:r>
            <a:endParaRPr lang="en-US" sz="1600" dirty="0"/>
          </a:p>
        </p:txBody>
      </p:sp>
      <p:sp>
        <p:nvSpPr>
          <p:cNvPr id="13" name="Text 11"/>
          <p:cNvSpPr/>
          <p:nvPr/>
        </p:nvSpPr>
        <p:spPr>
          <a:xfrm>
            <a:off x="7284568" y="2350008"/>
            <a:ext cx="4129888" cy="91440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Must run on A-series and Snapdragon 6xx class chips — not flagship-only silicon.</a:t>
            </a:r>
            <a:endParaRPr lang="en-US" sz="1200" dirty="0"/>
          </a:p>
        </p:txBody>
      </p:sp>
      <p:sp>
        <p:nvSpPr>
          <p:cNvPr id="14" name="Shape 12"/>
          <p:cNvSpPr/>
          <p:nvPr/>
        </p:nvSpPr>
        <p:spPr>
          <a:xfrm>
            <a:off x="502920" y="3657600"/>
            <a:ext cx="5318608" cy="1737360"/>
          </a:xfrm>
          <a:prstGeom prst="roundRect">
            <a:avLst>
              <a:gd name="adj" fmla="val 4211"/>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5" name="Shape 13"/>
          <p:cNvSpPr/>
          <p:nvPr/>
        </p:nvSpPr>
        <p:spPr>
          <a:xfrm>
            <a:off x="777240" y="3931920"/>
            <a:ext cx="457200" cy="457200"/>
          </a:xfrm>
          <a:prstGeom prst="ellipse">
            <a:avLst/>
          </a:prstGeom>
          <a:solidFill>
            <a:srgbClr val="1E2761"/>
          </a:solidFill>
          <a:ln/>
        </p:spPr>
      </p:sp>
      <p:sp>
        <p:nvSpPr>
          <p:cNvPr id="16" name="Text 14"/>
          <p:cNvSpPr/>
          <p:nvPr/>
        </p:nvSpPr>
        <p:spPr>
          <a:xfrm>
            <a:off x="77724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417320" y="3913632"/>
            <a:ext cx="4129888"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Accuracy floor</a:t>
            </a:r>
            <a:endParaRPr lang="en-US" sz="1600" dirty="0"/>
          </a:p>
        </p:txBody>
      </p:sp>
      <p:sp>
        <p:nvSpPr>
          <p:cNvPr id="18" name="Text 16"/>
          <p:cNvSpPr/>
          <p:nvPr/>
        </p:nvSpPr>
        <p:spPr>
          <a:xfrm>
            <a:off x="1417320" y="4315968"/>
            <a:ext cx="4129888" cy="91440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Dual budget on holdout: total-correct floor AND a hard ceiling on “wrong-action” misses.</a:t>
            </a:r>
            <a:endParaRPr lang="en-US" sz="1200" dirty="0"/>
          </a:p>
        </p:txBody>
      </p:sp>
      <p:sp>
        <p:nvSpPr>
          <p:cNvPr id="19" name="Shape 17"/>
          <p:cNvSpPr/>
          <p:nvPr/>
        </p:nvSpPr>
        <p:spPr>
          <a:xfrm>
            <a:off x="6370168" y="3657600"/>
            <a:ext cx="5318608" cy="1737360"/>
          </a:xfrm>
          <a:prstGeom prst="roundRect">
            <a:avLst>
              <a:gd name="adj" fmla="val 4211"/>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20" name="Shape 18"/>
          <p:cNvSpPr/>
          <p:nvPr/>
        </p:nvSpPr>
        <p:spPr>
          <a:xfrm>
            <a:off x="6644488" y="3931920"/>
            <a:ext cx="457200" cy="457200"/>
          </a:xfrm>
          <a:prstGeom prst="ellipse">
            <a:avLst/>
          </a:prstGeom>
          <a:solidFill>
            <a:srgbClr val="1E2761"/>
          </a:solidFill>
          <a:ln/>
        </p:spPr>
      </p:sp>
      <p:sp>
        <p:nvSpPr>
          <p:cNvPr id="21" name="Text 19"/>
          <p:cNvSpPr/>
          <p:nvPr/>
        </p:nvSpPr>
        <p:spPr>
          <a:xfrm>
            <a:off x="6644488"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284568" y="3913632"/>
            <a:ext cx="4129888"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Privacy by default</a:t>
            </a:r>
            <a:endParaRPr lang="en-US" sz="1600" dirty="0"/>
          </a:p>
        </p:txBody>
      </p:sp>
      <p:sp>
        <p:nvSpPr>
          <p:cNvPr id="23" name="Text 21"/>
          <p:cNvSpPr/>
          <p:nvPr/>
        </p:nvSpPr>
        <p:spPr>
          <a:xfrm>
            <a:off x="7284568" y="4315968"/>
            <a:ext cx="4129888" cy="91440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Raw speech / utterance text is never logged by default — medical-device privacy standard.</a:t>
            </a:r>
            <a:endParaRPr lang="en-US" sz="1200" dirty="0"/>
          </a:p>
        </p:txBody>
      </p:sp>
      <p:sp>
        <p:nvSpPr>
          <p:cNvPr id="24" name="Text 22"/>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02 · ARCHITECTURE</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Keyword + TF-IDF Cascade</a:t>
            </a:r>
            <a:endParaRPr lang="en-US" sz="3000" dirty="0"/>
          </a:p>
        </p:txBody>
      </p:sp>
      <p:sp>
        <p:nvSpPr>
          <p:cNvPr id="4" name="Text 2"/>
          <p:cNvSpPr/>
          <p:nvPr/>
        </p:nvSpPr>
        <p:spPr>
          <a:xfrm>
            <a:off x="502920" y="1371600"/>
            <a:ext cx="11185855" cy="320040"/>
          </a:xfrm>
          <a:prstGeom prst="rect">
            <a:avLst/>
          </a:prstGeom>
          <a:noFill/>
          <a:ln/>
        </p:spPr>
        <p:txBody>
          <a:bodyPr wrap="square" lIns="0" tIns="0" rIns="0" bIns="0" rtlCol="0" anchor="ctr"/>
          <a:lstStyle/>
          <a:p>
            <a:pPr indent="0" marL="0">
              <a:buNone/>
            </a:pPr>
            <a:r>
              <a:rPr lang="en-US" sz="1200" i="1" dirty="0">
                <a:solidFill>
                  <a:srgbClr val="5C6B8A"/>
                </a:solidFill>
                <a:latin typeface="Calibri" pitchFamily="34" charset="0"/>
                <a:ea typeface="Calibri" pitchFamily="34" charset="-122"/>
                <a:cs typeface="Calibri" pitchFamily="34" charset="-120"/>
              </a:rPr>
              <a:t>Design principle: each stage is cheaper than the next. The keyword rules handle the obvious cases; the classifier handles everything else it was trained on.</a:t>
            </a:r>
            <a:endParaRPr lang="en-US" sz="1200" dirty="0"/>
          </a:p>
        </p:txBody>
      </p:sp>
      <p:sp>
        <p:nvSpPr>
          <p:cNvPr id="5" name="Shape 3"/>
          <p:cNvSpPr/>
          <p:nvPr/>
        </p:nvSpPr>
        <p:spPr>
          <a:xfrm>
            <a:off x="502920" y="1965960"/>
            <a:ext cx="3454298" cy="2331720"/>
          </a:xfrm>
          <a:prstGeom prst="roundRect">
            <a:avLst>
              <a:gd name="adj" fmla="val 3529"/>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6" name="Text 4"/>
          <p:cNvSpPr/>
          <p:nvPr/>
        </p:nvSpPr>
        <p:spPr>
          <a:xfrm>
            <a:off x="704088" y="2167128"/>
            <a:ext cx="3051962" cy="274320"/>
          </a:xfrm>
          <a:prstGeom prst="rect">
            <a:avLst/>
          </a:prstGeom>
          <a:noFill/>
          <a:ln/>
        </p:spPr>
        <p:txBody>
          <a:bodyPr wrap="square" lIns="0" tIns="0" rIns="0" bIns="0" rtlCol="0" anchor="ctr"/>
          <a:lstStyle/>
          <a:p>
            <a:pPr indent="0" marL="0">
              <a:buNone/>
            </a:pPr>
            <a:r>
              <a:rPr lang="en-US" sz="1100" b="1" spc="150" kern="0" dirty="0">
                <a:solidFill>
                  <a:srgbClr val="5C6B8A"/>
                </a:solidFill>
                <a:latin typeface="Calibri" pitchFamily="34" charset="0"/>
                <a:ea typeface="Calibri" pitchFamily="34" charset="-122"/>
                <a:cs typeface="Calibri" pitchFamily="34" charset="-120"/>
              </a:rPr>
              <a:t>STAGE 1</a:t>
            </a:r>
            <a:endParaRPr lang="en-US" sz="1100" dirty="0"/>
          </a:p>
        </p:txBody>
      </p:sp>
      <p:sp>
        <p:nvSpPr>
          <p:cNvPr id="7" name="Text 5"/>
          <p:cNvSpPr/>
          <p:nvPr/>
        </p:nvSpPr>
        <p:spPr>
          <a:xfrm>
            <a:off x="704088" y="2496312"/>
            <a:ext cx="3051962" cy="6858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Keyword</a:t>
            </a:r>
            <a:endParaRPr lang="en-US" sz="1800" dirty="0"/>
          </a:p>
          <a:p>
            <a:pPr indent="0" marL="0">
              <a:buNone/>
            </a:pPr>
            <a:r>
              <a:rPr lang="en-US" sz="1800" b="1" dirty="0">
                <a:solidFill>
                  <a:srgbClr val="1E2761"/>
                </a:solidFill>
                <a:latin typeface="Cambria" pitchFamily="34" charset="0"/>
                <a:ea typeface="Cambria" pitchFamily="34" charset="-122"/>
                <a:cs typeface="Cambria" pitchFamily="34" charset="-120"/>
              </a:rPr>
              <a:t>Pre-filter</a:t>
            </a:r>
            <a:endParaRPr lang="en-US" sz="1800" dirty="0"/>
          </a:p>
        </p:txBody>
      </p:sp>
      <p:sp>
        <p:nvSpPr>
          <p:cNvPr id="8" name="Text 6"/>
          <p:cNvSpPr/>
          <p:nvPr/>
        </p:nvSpPr>
        <p:spPr>
          <a:xfrm>
            <a:off x="704088" y="3264408"/>
            <a:ext cx="3051962"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~0 ms</a:t>
            </a:r>
            <a:endParaRPr lang="en-US" sz="1600" dirty="0"/>
          </a:p>
        </p:txBody>
      </p:sp>
      <p:sp>
        <p:nvSpPr>
          <p:cNvPr id="9" name="Text 7"/>
          <p:cNvSpPr/>
          <p:nvPr/>
        </p:nvSpPr>
        <p:spPr>
          <a:xfrm>
            <a:off x="704088" y="3630168"/>
            <a:ext cx="3051962" cy="59436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Schema-driven exact / regex</a:t>
            </a:r>
            <a:endParaRPr lang="en-US" sz="1100" dirty="0"/>
          </a:p>
          <a:p>
            <a:pPr indent="0" marL="0">
              <a:buNone/>
            </a:pPr>
            <a:r>
              <a:rPr lang="en-US" sz="1100" dirty="0">
                <a:solidFill>
                  <a:srgbClr val="5C6B8A"/>
                </a:solidFill>
                <a:latin typeface="Calibri" pitchFamily="34" charset="0"/>
                <a:ea typeface="Calibri" pitchFamily="34" charset="-122"/>
                <a:cs typeface="Calibri" pitchFamily="34" charset="-120"/>
              </a:rPr>
              <a:t>match (nlu_schema.json)</a:t>
            </a:r>
            <a:endParaRPr lang="en-US" sz="1100" dirty="0"/>
          </a:p>
        </p:txBody>
      </p:sp>
      <p:sp>
        <p:nvSpPr>
          <p:cNvPr id="10" name="Shape 8"/>
          <p:cNvSpPr/>
          <p:nvPr/>
        </p:nvSpPr>
        <p:spPr>
          <a:xfrm>
            <a:off x="3938930" y="2985516"/>
            <a:ext cx="448056" cy="292608"/>
          </a:xfrm>
          <a:prstGeom prst="rightArrow">
            <a:avLst/>
          </a:prstGeom>
          <a:solidFill>
            <a:srgbClr val="5C6B8A"/>
          </a:solidFill>
          <a:ln/>
        </p:spPr>
      </p:sp>
      <p:sp>
        <p:nvSpPr>
          <p:cNvPr id="11" name="Shape 9"/>
          <p:cNvSpPr/>
          <p:nvPr/>
        </p:nvSpPr>
        <p:spPr>
          <a:xfrm>
            <a:off x="4368698" y="1965960"/>
            <a:ext cx="3454298" cy="2331720"/>
          </a:xfrm>
          <a:prstGeom prst="roundRect">
            <a:avLst>
              <a:gd name="adj" fmla="val 3529"/>
            </a:avLst>
          </a:prstGeom>
          <a:solidFill>
            <a:srgbClr val="1E2761"/>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2" name="Text 10"/>
          <p:cNvSpPr/>
          <p:nvPr/>
        </p:nvSpPr>
        <p:spPr>
          <a:xfrm>
            <a:off x="4569866" y="2167128"/>
            <a:ext cx="3051962" cy="274320"/>
          </a:xfrm>
          <a:prstGeom prst="rect">
            <a:avLst/>
          </a:prstGeom>
          <a:noFill/>
          <a:ln/>
        </p:spPr>
        <p:txBody>
          <a:bodyPr wrap="square" lIns="0" tIns="0" rIns="0" bIns="0" rtlCol="0" anchor="ctr"/>
          <a:lstStyle/>
          <a:p>
            <a:pPr indent="0" marL="0">
              <a:buNone/>
            </a:pPr>
            <a:r>
              <a:rPr lang="en-US" sz="1100" b="1" spc="150" kern="0" dirty="0">
                <a:solidFill>
                  <a:srgbClr val="CADCFC"/>
                </a:solidFill>
                <a:latin typeface="Calibri" pitchFamily="34" charset="0"/>
                <a:ea typeface="Calibri" pitchFamily="34" charset="-122"/>
                <a:cs typeface="Calibri" pitchFamily="34" charset="-120"/>
              </a:rPr>
              <a:t>STAGE 2</a:t>
            </a:r>
            <a:endParaRPr lang="en-US" sz="1100" dirty="0"/>
          </a:p>
        </p:txBody>
      </p:sp>
      <p:sp>
        <p:nvSpPr>
          <p:cNvPr id="13" name="Text 11"/>
          <p:cNvSpPr/>
          <p:nvPr/>
        </p:nvSpPr>
        <p:spPr>
          <a:xfrm>
            <a:off x="4569866" y="2496312"/>
            <a:ext cx="3051962" cy="6858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TF-IDF +</a:t>
            </a:r>
            <a:endParaRPr lang="en-US" sz="1800" dirty="0"/>
          </a:p>
          <a:p>
            <a:pPr indent="0" marL="0">
              <a:buNone/>
            </a:pPr>
            <a:r>
              <a:rPr lang="en-US" sz="1800" b="1" dirty="0">
                <a:solidFill>
                  <a:srgbClr val="FFFFFF"/>
                </a:solidFill>
                <a:latin typeface="Cambria" pitchFamily="34" charset="0"/>
                <a:ea typeface="Cambria" pitchFamily="34" charset="-122"/>
                <a:cs typeface="Cambria" pitchFamily="34" charset="-120"/>
              </a:rPr>
              <a:t>LogReg (ONNX)</a:t>
            </a:r>
            <a:endParaRPr lang="en-US" sz="1800" dirty="0"/>
          </a:p>
        </p:txBody>
      </p:sp>
      <p:sp>
        <p:nvSpPr>
          <p:cNvPr id="14" name="Text 12"/>
          <p:cNvSpPr/>
          <p:nvPr/>
        </p:nvSpPr>
        <p:spPr>
          <a:xfrm>
            <a:off x="4569866" y="3264408"/>
            <a:ext cx="3051962" cy="32004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~1–4 ms</a:t>
            </a:r>
            <a:endParaRPr lang="en-US" sz="1600" dirty="0"/>
          </a:p>
        </p:txBody>
      </p:sp>
      <p:sp>
        <p:nvSpPr>
          <p:cNvPr id="15" name="Text 13"/>
          <p:cNvSpPr/>
          <p:nvPr/>
        </p:nvSpPr>
        <p:spPr>
          <a:xfrm>
            <a:off x="4569866" y="3630168"/>
            <a:ext cx="3051962" cy="594360"/>
          </a:xfrm>
          <a:prstGeom prst="rect">
            <a:avLst/>
          </a:prstGeom>
          <a:noFill/>
          <a:ln/>
        </p:spPr>
        <p:txBody>
          <a:bodyPr wrap="square" lIns="0" tIns="0" rIns="0" bIns="0" rtlCol="0" anchor="ctr"/>
          <a:lstStyle/>
          <a:p>
            <a:pPr indent="0" marL="0">
              <a:buNone/>
            </a:pPr>
            <a:r>
              <a:rPr lang="en-US" sz="1100" dirty="0">
                <a:solidFill>
                  <a:srgbClr val="C7D2F0"/>
                </a:solidFill>
                <a:latin typeface="Calibri" pitchFamily="34" charset="0"/>
                <a:ea typeface="Calibri" pitchFamily="34" charset="-122"/>
                <a:cs typeface="Calibri" pitchFamily="34" charset="-120"/>
              </a:rPr>
              <a:t>60-class classifier,</a:t>
            </a:r>
            <a:endParaRPr lang="en-US" sz="1100" dirty="0"/>
          </a:p>
          <a:p>
            <a:pPr indent="0" marL="0">
              <a:buNone/>
            </a:pPr>
            <a:r>
              <a:rPr lang="en-US" sz="1100" dirty="0">
                <a:solidFill>
                  <a:srgbClr val="C7D2F0"/>
                </a:solidFill>
                <a:latin typeface="Calibri" pitchFamily="34" charset="0"/>
                <a:ea typeface="Calibri" pitchFamily="34" charset="-122"/>
                <a:cs typeface="Calibri" pitchFamily="34" charset="-120"/>
              </a:rPr>
              <a:t>temperature-calibrated</a:t>
            </a:r>
            <a:endParaRPr lang="en-US" sz="1100" dirty="0"/>
          </a:p>
        </p:txBody>
      </p:sp>
      <p:sp>
        <p:nvSpPr>
          <p:cNvPr id="16" name="Shape 14"/>
          <p:cNvSpPr/>
          <p:nvPr/>
        </p:nvSpPr>
        <p:spPr>
          <a:xfrm>
            <a:off x="7804709" y="2985516"/>
            <a:ext cx="448056" cy="292608"/>
          </a:xfrm>
          <a:prstGeom prst="rightArrow">
            <a:avLst/>
          </a:prstGeom>
          <a:solidFill>
            <a:srgbClr val="5C6B8A"/>
          </a:solidFill>
          <a:ln/>
        </p:spPr>
      </p:sp>
      <p:sp>
        <p:nvSpPr>
          <p:cNvPr id="17" name="Shape 15"/>
          <p:cNvSpPr/>
          <p:nvPr/>
        </p:nvSpPr>
        <p:spPr>
          <a:xfrm>
            <a:off x="8234477" y="1965960"/>
            <a:ext cx="3454298" cy="2331720"/>
          </a:xfrm>
          <a:prstGeom prst="roundRect">
            <a:avLst>
              <a:gd name="adj" fmla="val 3529"/>
            </a:avLst>
          </a:prstGeom>
          <a:solidFill>
            <a:srgbClr val="F8E9E8"/>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8" name="Text 16"/>
          <p:cNvSpPr/>
          <p:nvPr/>
        </p:nvSpPr>
        <p:spPr>
          <a:xfrm>
            <a:off x="8435645" y="2167128"/>
            <a:ext cx="3051962" cy="274320"/>
          </a:xfrm>
          <a:prstGeom prst="rect">
            <a:avLst/>
          </a:prstGeom>
          <a:noFill/>
          <a:ln/>
        </p:spPr>
        <p:txBody>
          <a:bodyPr wrap="square" lIns="0" tIns="0" rIns="0" bIns="0" rtlCol="0" anchor="ctr"/>
          <a:lstStyle/>
          <a:p>
            <a:pPr indent="0" marL="0">
              <a:buNone/>
            </a:pPr>
            <a:r>
              <a:rPr lang="en-US" sz="1100" b="1" spc="150" kern="0" dirty="0">
                <a:solidFill>
                  <a:srgbClr val="5C6B8A"/>
                </a:solidFill>
                <a:latin typeface="Calibri" pitchFamily="34" charset="0"/>
                <a:ea typeface="Calibri" pitchFamily="34" charset="-122"/>
                <a:cs typeface="Calibri" pitchFamily="34" charset="-120"/>
              </a:rPr>
              <a:t>FALLBACK</a:t>
            </a:r>
            <a:endParaRPr lang="en-US" sz="1100" dirty="0"/>
          </a:p>
        </p:txBody>
      </p:sp>
      <p:sp>
        <p:nvSpPr>
          <p:cNvPr id="19" name="Text 17"/>
          <p:cNvSpPr/>
          <p:nvPr/>
        </p:nvSpPr>
        <p:spPr>
          <a:xfrm>
            <a:off x="8435645" y="2496312"/>
            <a:ext cx="3051962" cy="685800"/>
          </a:xfrm>
          <a:prstGeom prst="rect">
            <a:avLst/>
          </a:prstGeom>
          <a:noFill/>
          <a:ln/>
        </p:spPr>
        <p:txBody>
          <a:bodyPr wrap="square" lIns="0" tIns="0" rIns="0" bIns="0" rtlCol="0" anchor="ctr"/>
          <a:lstStyle/>
          <a:p>
            <a:pPr indent="0" marL="0">
              <a:buNone/>
            </a:pPr>
            <a:r>
              <a:rPr lang="en-US" sz="1800" b="1" dirty="0">
                <a:solidFill>
                  <a:srgbClr val="A32B26"/>
                </a:solidFill>
                <a:latin typeface="Cambria" pitchFamily="34" charset="0"/>
                <a:ea typeface="Cambria" pitchFamily="34" charset="-122"/>
                <a:cs typeface="Cambria" pitchFamily="34" charset="-120"/>
              </a:rPr>
              <a:t>GenAI</a:t>
            </a:r>
            <a:endParaRPr lang="en-US" sz="1800" dirty="0"/>
          </a:p>
          <a:p>
            <a:pPr indent="0" marL="0">
              <a:buNone/>
            </a:pPr>
            <a:r>
              <a:rPr lang="en-US" sz="1800" b="1" dirty="0">
                <a:solidFill>
                  <a:srgbClr val="A32B26"/>
                </a:solidFill>
                <a:latin typeface="Cambria" pitchFamily="34" charset="0"/>
                <a:ea typeface="Cambria" pitchFamily="34" charset="-122"/>
                <a:cs typeface="Cambria" pitchFamily="34" charset="-120"/>
              </a:rPr>
              <a:t>Handoff</a:t>
            </a:r>
            <a:endParaRPr lang="en-US" sz="1800" dirty="0"/>
          </a:p>
        </p:txBody>
      </p:sp>
      <p:sp>
        <p:nvSpPr>
          <p:cNvPr id="20" name="Text 18"/>
          <p:cNvSpPr/>
          <p:nvPr/>
        </p:nvSpPr>
        <p:spPr>
          <a:xfrm>
            <a:off x="8435645" y="3264408"/>
            <a:ext cx="3051962"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network</a:t>
            </a:r>
            <a:endParaRPr lang="en-US" sz="1600" dirty="0"/>
          </a:p>
        </p:txBody>
      </p:sp>
      <p:sp>
        <p:nvSpPr>
          <p:cNvPr id="21" name="Text 19"/>
          <p:cNvSpPr/>
          <p:nvPr/>
        </p:nvSpPr>
        <p:spPr>
          <a:xfrm>
            <a:off x="8435645" y="3630168"/>
            <a:ext cx="3051962" cy="594360"/>
          </a:xfrm>
          <a:prstGeom prst="rect">
            <a:avLst/>
          </a:prstGeom>
          <a:noFill/>
          <a:ln/>
        </p:spPr>
        <p:txBody>
          <a:bodyPr wrap="square" lIns="0" tIns="0" rIns="0" bIns="0" rtlCol="0" anchor="ctr"/>
          <a:lstStyle/>
          <a:p>
            <a:pPr indent="0" marL="0">
              <a:buNone/>
            </a:pPr>
            <a:r>
              <a:rPr lang="en-US" sz="1100" dirty="0">
                <a:solidFill>
                  <a:srgbClr val="5C6B8A"/>
                </a:solidFill>
                <a:latin typeface="Calibri" pitchFamily="34" charset="0"/>
                <a:ea typeface="Calibri" pitchFamily="34" charset="-122"/>
                <a:cs typeface="Calibri" pitchFamily="34" charset="-120"/>
              </a:rPr>
              <a:t>Only when both on-device</a:t>
            </a:r>
            <a:endParaRPr lang="en-US" sz="1100" dirty="0"/>
          </a:p>
          <a:p>
            <a:pPr indent="0" marL="0">
              <a:buNone/>
            </a:pPr>
            <a:r>
              <a:rPr lang="en-US" sz="1100" dirty="0">
                <a:solidFill>
                  <a:srgbClr val="5C6B8A"/>
                </a:solidFill>
                <a:latin typeface="Calibri" pitchFamily="34" charset="0"/>
                <a:ea typeface="Calibri" pitchFamily="34" charset="-122"/>
                <a:cs typeface="Calibri" pitchFamily="34" charset="-120"/>
              </a:rPr>
              <a:t>stages decline</a:t>
            </a:r>
            <a:endParaRPr lang="en-US" sz="1100" dirty="0"/>
          </a:p>
        </p:txBody>
      </p:sp>
      <p:sp>
        <p:nvSpPr>
          <p:cNvPr id="22" name="Text 20"/>
          <p:cNvSpPr/>
          <p:nvPr/>
        </p:nvSpPr>
        <p:spPr>
          <a:xfrm>
            <a:off x="502920" y="4526280"/>
            <a:ext cx="11185855" cy="320040"/>
          </a:xfrm>
          <a:prstGeom prst="rect">
            <a:avLst/>
          </a:prstGeom>
          <a:noFill/>
          <a:ln/>
        </p:spPr>
        <p:txBody>
          <a:bodyPr wrap="square" lIns="0" tIns="0" rIns="0" bIns="0" rtlCol="0" anchor="ctr"/>
          <a:lstStyle/>
          <a:p>
            <a:pPr indent="0" marL="0">
              <a:buNone/>
            </a:pPr>
            <a:r>
              <a:rPr lang="en-US" sz="1100" i="1" dirty="0">
                <a:solidFill>
                  <a:srgbClr val="5C6B8A"/>
                </a:solidFill>
                <a:latin typeface="Calibri" pitchFamily="34" charset="0"/>
                <a:ea typeface="Calibri" pitchFamily="34" charset="-122"/>
                <a:cs typeface="Calibri" pitchFamily="34" charset="-120"/>
              </a:rPr>
              <a:t>Each arrow = “miss / below threshold”. A confident hit at Stage 1 or Stage 2 returns immediately — GenAI is only invoked when both decline.</a:t>
            </a:r>
            <a:endParaRPr lang="en-US" sz="1100" dirty="0"/>
          </a:p>
        </p:txBody>
      </p:sp>
      <p:sp>
        <p:nvSpPr>
          <p:cNvPr id="23" name="Text 21"/>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02 · ARCHITECTURE — STAGE 1</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Stage 1: Keyword Pre-filter</a:t>
            </a:r>
            <a:endParaRPr lang="en-US" sz="3000" dirty="0"/>
          </a:p>
        </p:txBody>
      </p:sp>
      <p:sp>
        <p:nvSpPr>
          <p:cNvPr id="4" name="Text 2"/>
          <p:cNvSpPr/>
          <p:nvPr/>
        </p:nvSpPr>
        <p:spPr>
          <a:xfrm>
            <a:off x="502920" y="1417320"/>
            <a:ext cx="11185855" cy="457200"/>
          </a:xfrm>
          <a:prstGeom prst="rect">
            <a:avLst/>
          </a:prstGeom>
          <a:noFill/>
          <a:ln/>
        </p:spPr>
        <p:txBody>
          <a:bodyPr wrap="square" lIns="0" tIns="0" rIns="0" bIns="0" rtlCol="0" anchor="ctr"/>
          <a:lstStyle/>
          <a:p>
            <a:pPr indent="0" marL="0">
              <a:buNone/>
            </a:pPr>
            <a:r>
              <a:rPr lang="en-US" sz="1200" dirty="0">
                <a:solidFill>
                  <a:srgbClr val="5C6B8A"/>
                </a:solidFill>
                <a:latin typeface="Calibri" pitchFamily="34" charset="0"/>
                <a:ea typeface="Calibri" pitchFamily="34" charset="-122"/>
                <a:cs typeface="Calibri" pitchFamily="34" charset="-120"/>
              </a:rPr>
              <a:t>Declarative rule engine, zero ML. Rules live in data/nlu_schema.json under keyword_triggers — changing a trigger phrase means editing JSON, not redeploying code.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6935230" cy="1828800"/>
        </p:xfrm>
        <a:graphic>
          <a:graphicData uri="http://schemas.openxmlformats.org/drawingml/2006/table">
            <a:tbl>
              <a:tblPr/>
              <a:tblGrid>
                <a:gridCol w="1941864"/>
                <a:gridCol w="1387046"/>
                <a:gridCol w="360632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Match type</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r>
              <a:tr h="365760">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exact</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"mute" → Cmd.VolumeMute</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regex_guarded</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pattern + exclusion regex (e.g. “translate” minus “what is translate”)</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contains</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substring anywhere in the utterance, negation-checked</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regex</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200" dirty="0">
                          <a:solidFill>
                            <a:srgbClr val="1A1F3B"/>
                          </a:solidFill>
                          <a:latin typeface="Calibri" pitchFamily="34" charset="0"/>
                          <a:ea typeface="Calibri" pitchFamily="34" charset="-122"/>
                          <a:cs typeface="Calibri" pitchFamily="34" charset="-120"/>
                        </a:rPr>
                        <a:t>bare pattern match — the broadest, weakest signal</a:t>
                      </a:r>
                      <a:endParaRPr lang="en-US" sz="12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bl>
          </a:graphicData>
        </a:graphic>
      </p:graphicFrame>
      <p:sp>
        <p:nvSpPr>
          <p:cNvPr id="6" name="Shape 3"/>
          <p:cNvSpPr/>
          <p:nvPr/>
        </p:nvSpPr>
        <p:spPr>
          <a:xfrm>
            <a:off x="7758190" y="2057400"/>
            <a:ext cx="3930585" cy="2834640"/>
          </a:xfrm>
          <a:prstGeom prst="roundRect">
            <a:avLst>
              <a:gd name="adj" fmla="val 2581"/>
            </a:avLst>
          </a:prstGeom>
          <a:solidFill>
            <a:srgbClr val="F8E9E8"/>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7" name="Text 4"/>
          <p:cNvSpPr/>
          <p:nvPr/>
        </p:nvSpPr>
        <p:spPr>
          <a:xfrm>
            <a:off x="7986790" y="2240280"/>
            <a:ext cx="3473385" cy="320040"/>
          </a:xfrm>
          <a:prstGeom prst="rect">
            <a:avLst/>
          </a:prstGeom>
          <a:noFill/>
          <a:ln/>
        </p:spPr>
        <p:txBody>
          <a:bodyPr wrap="square" lIns="0" tIns="0" rIns="0" bIns="0" rtlCol="0" anchor="ctr"/>
          <a:lstStyle/>
          <a:p>
            <a:pPr indent="0" marL="0">
              <a:buNone/>
            </a:pPr>
            <a:r>
              <a:rPr lang="en-US" sz="1400" b="1" dirty="0">
                <a:solidFill>
                  <a:srgbClr val="A32B26"/>
                </a:solidFill>
                <a:latin typeface="Calibri" pitchFamily="34" charset="0"/>
                <a:ea typeface="Calibri" pitchFamily="34" charset="-122"/>
                <a:cs typeface="Calibri" pitchFamily="34" charset="-120"/>
              </a:rPr>
              <a:t>Negation guard</a:t>
            </a:r>
            <a:endParaRPr lang="en-US" sz="1400" dirty="0"/>
          </a:p>
        </p:txBody>
      </p:sp>
      <p:sp>
        <p:nvSpPr>
          <p:cNvPr id="8" name="Text 5"/>
          <p:cNvSpPr/>
          <p:nvPr/>
        </p:nvSpPr>
        <p:spPr>
          <a:xfrm>
            <a:off x="7986790" y="2606040"/>
            <a:ext cx="3473385" cy="1280160"/>
          </a:xfrm>
          <a:prstGeom prst="rect">
            <a:avLst/>
          </a:prstGeom>
          <a:noFill/>
          <a:ln/>
        </p:spPr>
        <p:txBody>
          <a:bodyPr wrap="square" lIns="0" tIns="0" rIns="0" bIns="0" rtlCol="0" anchor="ctr"/>
          <a:lstStyle/>
          <a:p>
            <a:pPr indent="0" marL="0">
              <a:buNone/>
            </a:pPr>
            <a:r>
              <a:rPr lang="en-US" sz="1150" dirty="0">
                <a:solidFill>
                  <a:srgbClr val="1A1F3B"/>
                </a:solidFill>
                <a:latin typeface="Calibri" pitchFamily="34" charset="0"/>
                <a:ea typeface="Calibri" pitchFamily="34" charset="-122"/>
                <a:cs typeface="Calibri" pitchFamily="34" charset="-120"/>
              </a:rPr>
              <a:t>"I don't want to translate this" — "translate" is a contains keyword, but _is_negated() scans a 30-character window before the match for cues like "not", "don't", "without" and suppresses the hit.</a:t>
            </a:r>
            <a:endParaRPr lang="en-US" sz="1150" dirty="0"/>
          </a:p>
        </p:txBody>
      </p:sp>
      <p:sp>
        <p:nvSpPr>
          <p:cNvPr id="9" name="Shape 6"/>
          <p:cNvSpPr/>
          <p:nvPr/>
        </p:nvSpPr>
        <p:spPr>
          <a:xfrm>
            <a:off x="502920" y="4160520"/>
            <a:ext cx="11185855" cy="1417320"/>
          </a:xfrm>
          <a:prstGeom prst="roundRect">
            <a:avLst>
              <a:gd name="adj" fmla="val 5161"/>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0" name="Text 7"/>
          <p:cNvSpPr/>
          <p:nvPr/>
        </p:nvSpPr>
        <p:spPr>
          <a:xfrm>
            <a:off x="777240" y="4315968"/>
            <a:ext cx="10637215"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calibrated confidence (not a flat 1.0)?</a:t>
            </a:r>
            <a:endParaRPr lang="en-US" sz="1350" dirty="0"/>
          </a:p>
        </p:txBody>
      </p:sp>
      <p:sp>
        <p:nvSpPr>
          <p:cNvPr id="11" name="Text 8"/>
          <p:cNvSpPr/>
          <p:nvPr/>
        </p:nvSpPr>
        <p:spPr>
          <a:xfrm>
            <a:off x="777240" y="4663440"/>
            <a:ext cx="10637215" cy="868680"/>
          </a:xfrm>
          <a:prstGeom prst="rect">
            <a:avLst/>
          </a:prstGeom>
          <a:noFill/>
          <a:ln/>
        </p:spPr>
        <p:txBody>
          <a:bodyPr wrap="square" lIns="0" tIns="0" rIns="0" bIns="0" rtlCol="0" anchor="ctr"/>
          <a:lstStyle/>
          <a:p>
            <a:pPr indent="0" marL="0">
              <a:buNone/>
            </a:pPr>
            <a:r>
              <a:rPr lang="en-US" sz="1150" dirty="0">
                <a:solidFill>
                  <a:srgbClr val="1A1F3B"/>
                </a:solidFill>
                <a:latin typeface="Calibri" pitchFamily="34" charset="0"/>
                <a:ea typeface="Calibri" pitchFamily="34" charset="-122"/>
                <a:cs typeface="Calibri" pitchFamily="34" charset="-120"/>
              </a:rPr>
              <a:t>Early versions returned 1.0 for every keyword hit. That let a weak “contains” match during slot-filling (e.g. “ask about the translate feature” mid-reminder) outrank a genuine interrupt and abandon collected slots. Match-type-calibrated confidence fixed this — only exact / regex / regex_guarded hits can interrupt an active flow.</a:t>
            </a:r>
            <a:endParaRPr lang="en-US" sz="1150" dirty="0"/>
          </a:p>
        </p:txBody>
      </p:sp>
      <p:sp>
        <p:nvSpPr>
          <p:cNvPr id="12" name="Text 9"/>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02 · ARCHITECTURE — STAGE 2</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Stage 2: TF-IDF + Logistic Regression (ONNX)</a:t>
            </a:r>
            <a:endParaRPr lang="en-US" sz="3000" dirty="0"/>
          </a:p>
        </p:txBody>
      </p:sp>
      <p:sp>
        <p:nvSpPr>
          <p:cNvPr id="4" name="Shape 2"/>
          <p:cNvSpPr/>
          <p:nvPr/>
        </p:nvSpPr>
        <p:spPr>
          <a:xfrm>
            <a:off x="502920" y="1600200"/>
            <a:ext cx="5410048" cy="3246120"/>
          </a:xfrm>
          <a:prstGeom prst="roundRect">
            <a:avLst>
              <a:gd name="adj" fmla="val 2254"/>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Text 3"/>
          <p:cNvSpPr/>
          <p:nvPr/>
        </p:nvSpPr>
        <p:spPr>
          <a:xfrm>
            <a:off x="731520" y="1783080"/>
            <a:ext cx="4952848"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Pipeline (scripts/train.py)</a:t>
            </a:r>
            <a:endParaRPr lang="en-US" sz="1450" dirty="0"/>
          </a:p>
        </p:txBody>
      </p:sp>
      <p:sp>
        <p:nvSpPr>
          <p:cNvPr id="6" name="Text 4"/>
          <p:cNvSpPr/>
          <p:nvPr/>
        </p:nvSpPr>
        <p:spPr>
          <a:xfrm>
            <a:off x="731520" y="2194560"/>
            <a:ext cx="495284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TfidfVectorizer(ngram_range=(1,2), min_df=2, sublinear_tf=True)</a:t>
            </a:r>
            <a:endParaRPr lang="en-US" sz="1150" dirty="0"/>
          </a:p>
        </p:txBody>
      </p:sp>
      <p:sp>
        <p:nvSpPr>
          <p:cNvPr id="7" name="Text 5"/>
          <p:cNvSpPr/>
          <p:nvPr/>
        </p:nvSpPr>
        <p:spPr>
          <a:xfrm>
            <a:off x="731520" y="2761488"/>
            <a:ext cx="495284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LogisticRegression(C=15.0, class_weight="balanced", max_iter=3000)</a:t>
            </a:r>
            <a:endParaRPr lang="en-US" sz="1150" dirty="0"/>
          </a:p>
        </p:txBody>
      </p:sp>
      <p:sp>
        <p:nvSpPr>
          <p:cNvPr id="8" name="Text 6"/>
          <p:cNvSpPr/>
          <p:nvPr/>
        </p:nvSpPr>
        <p:spPr>
          <a:xfrm>
            <a:off x="731520" y="3328416"/>
            <a:ext cx="495284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Exported raw_scores=True — ONNX emits raw logits, not baked-in softmax</a:t>
            </a:r>
            <a:endParaRPr lang="en-US" sz="1150" dirty="0"/>
          </a:p>
        </p:txBody>
      </p:sp>
      <p:sp>
        <p:nvSpPr>
          <p:cNvPr id="9" name="Text 7"/>
          <p:cNvSpPr/>
          <p:nvPr/>
        </p:nvSpPr>
        <p:spPr>
          <a:xfrm>
            <a:off x="731520" y="3895344"/>
            <a:ext cx="4952848" cy="548640"/>
          </a:xfrm>
          <a:prstGeom prst="rect">
            <a:avLst/>
          </a:prstGeom>
          <a:noFill/>
          <a:ln/>
        </p:spPr>
        <p:txBody>
          <a:bodyPr wrap="square" lIns="0" tIns="0" rIns="0" bIns="0" rtlCol="0" anchor="ctr"/>
          <a:lstStyle/>
          <a:p>
            <a:pPr marL="342900" indent="-342900">
              <a:buSzPct val="100000"/>
              <a:buChar char="•"/>
            </a:pPr>
            <a:r>
              <a:rPr lang="en-US" sz="1150" dirty="0">
                <a:solidFill>
                  <a:srgbClr val="1A1F3B"/>
                </a:solidFill>
                <a:latin typeface="Calibri" pitchFamily="34" charset="0"/>
                <a:ea typeface="Calibri" pitchFamily="34" charset="-122"/>
                <a:cs typeface="Calibri" pitchFamily="34" charset="-120"/>
              </a:rPr>
              <a:t>skl2onnx → intent_model.onnx; whole vectorizer baked into the graph</a:t>
            </a:r>
            <a:endParaRPr lang="en-US" sz="1150" dirty="0"/>
          </a:p>
        </p:txBody>
      </p:sp>
      <p:sp>
        <p:nvSpPr>
          <p:cNvPr id="10" name="Text 8"/>
          <p:cNvSpPr/>
          <p:nvPr/>
        </p:nvSpPr>
        <p:spPr>
          <a:xfrm>
            <a:off x="731520" y="4343400"/>
            <a:ext cx="4952848" cy="457200"/>
          </a:xfrm>
          <a:prstGeom prst="rect">
            <a:avLst/>
          </a:prstGeom>
          <a:noFill/>
          <a:ln/>
        </p:spPr>
        <p:txBody>
          <a:bodyPr wrap="square" lIns="0" tIns="0" rIns="0" bIns="0" rtlCol="0" anchor="ctr"/>
          <a:lstStyle/>
          <a:p>
            <a:pPr indent="0" marL="0">
              <a:buNone/>
            </a:pPr>
            <a:r>
              <a:rPr lang="en-US" sz="1100" i="1" dirty="0">
                <a:solidFill>
                  <a:srgbClr val="5C6B8A"/>
                </a:solidFill>
                <a:latin typeface="Calibri" pitchFamily="34" charset="0"/>
                <a:ea typeface="Calibri" pitchFamily="34" charset="-122"/>
                <a:cs typeface="Calibri" pitchFamily="34" charset="-120"/>
              </a:rPr>
              <a:t>Accuracy gate: build fails and nothing is exported if held-out test-split accuracy &lt; 0.85 (MIN_TEST_ACCURACY).</a:t>
            </a:r>
            <a:endParaRPr lang="en-US" sz="1100" dirty="0"/>
          </a:p>
        </p:txBody>
      </p:sp>
      <p:sp>
        <p:nvSpPr>
          <p:cNvPr id="11" name="Shape 9"/>
          <p:cNvSpPr/>
          <p:nvPr/>
        </p:nvSpPr>
        <p:spPr>
          <a:xfrm>
            <a:off x="6278728" y="1600200"/>
            <a:ext cx="5410048" cy="3246120"/>
          </a:xfrm>
          <a:prstGeom prst="roundRect">
            <a:avLst>
              <a:gd name="adj" fmla="val 2254"/>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2" name="Text 10"/>
          <p:cNvSpPr/>
          <p:nvPr/>
        </p:nvSpPr>
        <p:spPr>
          <a:xfrm>
            <a:off x="6507328" y="1783080"/>
            <a:ext cx="4952848" cy="320040"/>
          </a:xfrm>
          <a:prstGeom prst="rect">
            <a:avLst/>
          </a:prstGeom>
          <a:noFill/>
          <a:ln/>
        </p:spPr>
        <p:txBody>
          <a:bodyPr wrap="square" lIns="0" tIns="0" rIns="0" bIns="0" rtlCol="0" anchor="ctr"/>
          <a:lstStyle/>
          <a:p>
            <a:pPr indent="0" marL="0">
              <a:buNone/>
            </a:pPr>
            <a:r>
              <a:rPr lang="en-US" sz="1450" b="1" dirty="0">
                <a:solidFill>
                  <a:srgbClr val="1E7145"/>
                </a:solidFill>
                <a:latin typeface="Calibri" pitchFamily="34" charset="0"/>
                <a:ea typeface="Calibri" pitchFamily="34" charset="-122"/>
                <a:cs typeface="Calibri" pitchFamily="34" charset="-120"/>
              </a:rPr>
              <a:t>Calibration fix — a real P0 resolved</a:t>
            </a:r>
            <a:endParaRPr lang="en-US" sz="1450" dirty="0"/>
          </a:p>
        </p:txBody>
      </p:sp>
      <p:sp>
        <p:nvSpPr>
          <p:cNvPr id="13" name="Text 11"/>
          <p:cNvSpPr/>
          <p:nvPr/>
        </p:nvSpPr>
        <p:spPr>
          <a:xfrm>
            <a:off x="6507328" y="2148840"/>
            <a:ext cx="4952848" cy="685800"/>
          </a:xfrm>
          <a:prstGeom prst="rect">
            <a:avLst/>
          </a:prstGeom>
          <a:noFill/>
          <a:ln/>
        </p:spPr>
        <p:txBody>
          <a:bodyPr wrap="square" lIns="0" tIns="0" rIns="0" bIns="0" rtlCol="0" anchor="ctr"/>
          <a:lstStyle/>
          <a:p>
            <a:pPr indent="0" marL="0">
              <a:buNone/>
            </a:pPr>
            <a:r>
              <a:rPr lang="en-US" sz="1150" dirty="0">
                <a:solidFill>
                  <a:srgbClr val="1A1F3B"/>
                </a:solidFill>
                <a:latin typeface="Calibri" pitchFamily="34" charset="0"/>
                <a:ea typeface="Calibri" pitchFamily="34" charset="-122"/>
                <a:cs typeface="Calibri" pitchFamily="34" charset="-120"/>
              </a:rPr>
              <a:t>Architecture review flagged: C=15 makes plain LogisticRegression overconfident — probabilities cluster near 0/1, so the 0.70 threshold rarely rejects anything.</a:t>
            </a:r>
            <a:endParaRPr lang="en-US" sz="1150" dirty="0"/>
          </a:p>
        </p:txBody>
      </p:sp>
      <p:sp>
        <p:nvSpPr>
          <p:cNvPr id="14" name="Text 12"/>
          <p:cNvSpPr/>
          <p:nvPr/>
        </p:nvSpPr>
        <p:spPr>
          <a:xfrm>
            <a:off x="6507328" y="2880360"/>
            <a:ext cx="4952848" cy="1188720"/>
          </a:xfrm>
          <a:prstGeom prst="rect">
            <a:avLst/>
          </a:prstGeom>
          <a:noFill/>
          <a:ln/>
        </p:spPr>
        <p:txBody>
          <a:bodyPr wrap="square" lIns="0" tIns="0" rIns="0" bIns="0" rtlCol="0" anchor="ctr"/>
          <a:lstStyle/>
          <a:p>
            <a:pPr indent="0" marL="0">
              <a:buNone/>
            </a:pPr>
            <a:r>
              <a:rPr lang="en-US" sz="1150" dirty="0">
                <a:solidFill>
                  <a:srgbClr val="1A1F3B"/>
                </a:solidFill>
                <a:latin typeface="Calibri" pitchFamily="34" charset="0"/>
                <a:ea typeface="Calibri" pitchFamily="34" charset="-122"/>
                <a:cs typeface="Calibri" pitchFamily="34" charset="-120"/>
              </a:rPr>
              <a:t>Fix shipped: single-parameter temperature scaling — softmax(logits / T) — fit post-hoc on device-equivalent logits (export_ios_weights.py), instead of wrapping in CalibratedClassifierCV. Temperature scaling is rank-preserving, so intent selection is unchanged; only confidence is honest.</a:t>
            </a:r>
            <a:endParaRPr lang="en-US" sz="1150" dirty="0"/>
          </a:p>
        </p:txBody>
      </p:sp>
      <p:sp>
        <p:nvSpPr>
          <p:cNvPr id="15" name="Shape 13"/>
          <p:cNvSpPr/>
          <p:nvPr/>
        </p:nvSpPr>
        <p:spPr>
          <a:xfrm>
            <a:off x="6507328" y="4251960"/>
            <a:ext cx="1554480" cy="256032"/>
          </a:xfrm>
          <a:prstGeom prst="roundRect">
            <a:avLst>
              <a:gd name="adj" fmla="val 50000"/>
            </a:avLst>
          </a:prstGeom>
          <a:solidFill>
            <a:srgbClr val="E7F3EC"/>
          </a:solidFill>
          <a:ln/>
        </p:spPr>
      </p:sp>
      <p:sp>
        <p:nvSpPr>
          <p:cNvPr id="16" name="Text 14"/>
          <p:cNvSpPr/>
          <p:nvPr/>
        </p:nvSpPr>
        <p:spPr>
          <a:xfrm>
            <a:off x="6507328" y="4251960"/>
            <a:ext cx="1554480" cy="256032"/>
          </a:xfrm>
          <a:prstGeom prst="rect">
            <a:avLst/>
          </a:prstGeom>
          <a:noFill/>
          <a:ln/>
        </p:spPr>
        <p:txBody>
          <a:bodyPr wrap="square" lIns="0" tIns="0" rIns="0" bIns="0" rtlCol="0" anchor="ctr"/>
          <a:lstStyle/>
          <a:p>
            <a:pPr algn="ctr" indent="0" marL="0">
              <a:buNone/>
            </a:pPr>
            <a:r>
              <a:rPr lang="en-US" sz="950" b="1" dirty="0">
                <a:solidFill>
                  <a:srgbClr val="1E7145"/>
                </a:solidFill>
                <a:latin typeface="Calibri" pitchFamily="34" charset="0"/>
                <a:ea typeface="Calibri" pitchFamily="34" charset="-122"/>
                <a:cs typeface="Calibri" pitchFamily="34" charset="-120"/>
              </a:rPr>
              <a:t>RESOLVED</a:t>
            </a:r>
            <a:endParaRPr lang="en-US" sz="950" dirty="0"/>
          </a:p>
        </p:txBody>
      </p:sp>
      <p:sp>
        <p:nvSpPr>
          <p:cNvPr id="17" name="Shape 15"/>
          <p:cNvSpPr/>
          <p:nvPr/>
        </p:nvSpPr>
        <p:spPr>
          <a:xfrm>
            <a:off x="502920" y="5029200"/>
            <a:ext cx="11185855" cy="777240"/>
          </a:xfrm>
          <a:prstGeom prst="roundRect">
            <a:avLst>
              <a:gd name="adj" fmla="val 9412"/>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8" name="Text 16"/>
          <p:cNvSpPr/>
          <p:nvPr/>
        </p:nvSpPr>
        <p:spPr>
          <a:xfrm>
            <a:off x="777240" y="5212080"/>
            <a:ext cx="10637215"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Accept threshold: </a:t>
            </a:r>
            <a:pPr indent="0" marL="0">
              <a:buNone/>
            </a:pPr>
            <a:r>
              <a:rPr lang="en-US" sz="1300" dirty="0">
                <a:solidFill>
                  <a:srgbClr val="1A1F3B"/>
                </a:solidFill>
                <a:latin typeface="Calibri" pitchFamily="34" charset="0"/>
                <a:ea typeface="Calibri" pitchFamily="34" charset="-122"/>
                <a:cs typeface="Calibri" pitchFamily="34" charset="-120"/>
              </a:rPr>
              <a:t>max(prob) ≥ 0.70   </a:t>
            </a:r>
            <a:pPr indent="0" marL="0">
              <a:buNone/>
            </a:pPr>
            <a:r>
              <a:rPr lang="en-US" sz="1300" b="1" dirty="0">
                <a:solidFill>
                  <a:srgbClr val="1E2761"/>
                </a:solidFill>
                <a:latin typeface="Calibri" pitchFamily="34" charset="0"/>
                <a:ea typeface="Calibri" pitchFamily="34" charset="-122"/>
                <a:cs typeface="Calibri" pitchFamily="34" charset="-120"/>
              </a:rPr>
              <a:t>  |   Slot-filling intents: </a:t>
            </a:r>
            <a:pPr indent="0" marL="0">
              <a:buNone/>
            </a:pPr>
            <a:r>
              <a:rPr lang="en-US" sz="1300" dirty="0">
                <a:solidFill>
                  <a:srgbClr val="1A1F3B"/>
                </a:solidFill>
                <a:latin typeface="Calibri" pitchFamily="34" charset="0"/>
                <a:ea typeface="Calibri" pitchFamily="34" charset="-122"/>
                <a:cs typeface="Calibri" pitchFamily="34" charset="-120"/>
              </a:rPr>
              <a:t>≥ 0.60 (avoids stalling flows on borderline confidence)</a:t>
            </a:r>
            <a:endParaRPr lang="en-US" sz="1300" dirty="0"/>
          </a:p>
        </p:txBody>
      </p:sp>
      <p:sp>
        <p:nvSpPr>
          <p:cNvPr id="19" name="Text 17"/>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02 · ARCHITECTURE — DIALOGUE</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Multi-Turn Slot Filling</a:t>
            </a:r>
            <a:endParaRPr lang="en-US" sz="3000" dirty="0"/>
          </a:p>
        </p:txBody>
      </p:sp>
      <p:sp>
        <p:nvSpPr>
          <p:cNvPr id="4" name="Shape 2"/>
          <p:cNvSpPr/>
          <p:nvPr/>
        </p:nvSpPr>
        <p:spPr>
          <a:xfrm>
            <a:off x="502920" y="1600200"/>
            <a:ext cx="4698059" cy="3063240"/>
          </a:xfrm>
          <a:prstGeom prst="roundRect">
            <a:avLst>
              <a:gd name="adj" fmla="val 2388"/>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Text 3"/>
          <p:cNvSpPr/>
          <p:nvPr/>
        </p:nvSpPr>
        <p:spPr>
          <a:xfrm>
            <a:off x="731520" y="1764792"/>
            <a:ext cx="4240859"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Example flow</a:t>
            </a:r>
            <a:endParaRPr lang="en-US" sz="1350" dirty="0"/>
          </a:p>
        </p:txBody>
      </p:sp>
      <p:sp>
        <p:nvSpPr>
          <p:cNvPr id="6" name="Text 4"/>
          <p:cNvSpPr/>
          <p:nvPr/>
        </p:nvSpPr>
        <p:spPr>
          <a:xfrm>
            <a:off x="731520" y="2121408"/>
            <a:ext cx="4240859" cy="365760"/>
          </a:xfrm>
          <a:prstGeom prst="rect">
            <a:avLst/>
          </a:prstGeom>
          <a:noFill/>
          <a:ln/>
        </p:spPr>
        <p:txBody>
          <a:bodyPr wrap="square" lIns="0" tIns="0" rIns="0" bIns="0" rtlCol="0" anchor="ctr"/>
          <a:lstStyle/>
          <a:p>
            <a:pPr indent="0" marL="0">
              <a:buNone/>
            </a:pPr>
            <a:r>
              <a:rPr lang="en-US" sz="1080" b="1" dirty="0">
                <a:solidFill>
                  <a:srgbClr val="5C6B8A"/>
                </a:solidFill>
                <a:latin typeface="Calibri" pitchFamily="34" charset="0"/>
                <a:ea typeface="Calibri" pitchFamily="34" charset="-122"/>
                <a:cs typeface="Calibri" pitchFamily="34" charset="-120"/>
              </a:rPr>
              <a:t>User:  </a:t>
            </a:r>
            <a:pPr indent="0" marL="0">
              <a:buNone/>
            </a:pPr>
            <a:r>
              <a:rPr lang="en-US" sz="1080" i="1" dirty="0">
                <a:solidFill>
                  <a:srgbClr val="1A1F3B"/>
                </a:solidFill>
                <a:latin typeface="Calibri" pitchFamily="34" charset="0"/>
                <a:ea typeface="Calibri" pitchFamily="34" charset="-122"/>
                <a:cs typeface="Calibri" pitchFamily="34" charset="-120"/>
              </a:rPr>
              <a:t>"set a reminder"</a:t>
            </a:r>
            <a:endParaRPr lang="en-US" sz="1080" dirty="0"/>
          </a:p>
        </p:txBody>
      </p:sp>
      <p:sp>
        <p:nvSpPr>
          <p:cNvPr id="7" name="Text 5"/>
          <p:cNvSpPr/>
          <p:nvPr/>
        </p:nvSpPr>
        <p:spPr>
          <a:xfrm>
            <a:off x="731520" y="2505456"/>
            <a:ext cx="4240859" cy="365760"/>
          </a:xfrm>
          <a:prstGeom prst="rect">
            <a:avLst/>
          </a:prstGeom>
          <a:noFill/>
          <a:ln/>
        </p:spPr>
        <p:txBody>
          <a:bodyPr wrap="square" lIns="0" tIns="0" rIns="0" bIns="0" rtlCol="0" anchor="ctr"/>
          <a:lstStyle/>
          <a:p>
            <a:pPr indent="0" marL="0">
              <a:buNone/>
            </a:pPr>
            <a:r>
              <a:rPr lang="en-US" sz="1080" b="1" dirty="0">
                <a:solidFill>
                  <a:srgbClr val="1E2761"/>
                </a:solidFill>
                <a:latin typeface="Calibri" pitchFamily="34" charset="0"/>
                <a:ea typeface="Calibri" pitchFamily="34" charset="-122"/>
                <a:cs typeface="Calibri" pitchFamily="34" charset="-120"/>
              </a:rPr>
              <a:t>Engine:  </a:t>
            </a:r>
            <a:pPr indent="0" marL="0">
              <a:buNone/>
            </a:pPr>
            <a:r>
              <a:rPr lang="en-US" sz="1080" dirty="0">
                <a:solidFill>
                  <a:srgbClr val="1A1F3B"/>
                </a:solidFill>
                <a:latin typeface="Calibri" pitchFamily="34" charset="0"/>
                <a:ea typeface="Calibri" pitchFamily="34" charset="-122"/>
                <a:cs typeface="Calibri" pitchFamily="34" charset="-120"/>
              </a:rPr>
              <a:t>"What would you like to be reminded about?"</a:t>
            </a:r>
            <a:endParaRPr lang="en-US" sz="1080" dirty="0"/>
          </a:p>
        </p:txBody>
      </p:sp>
      <p:sp>
        <p:nvSpPr>
          <p:cNvPr id="8" name="Text 6"/>
          <p:cNvSpPr/>
          <p:nvPr/>
        </p:nvSpPr>
        <p:spPr>
          <a:xfrm>
            <a:off x="731520" y="2889504"/>
            <a:ext cx="4240859" cy="365760"/>
          </a:xfrm>
          <a:prstGeom prst="rect">
            <a:avLst/>
          </a:prstGeom>
          <a:noFill/>
          <a:ln/>
        </p:spPr>
        <p:txBody>
          <a:bodyPr wrap="square" lIns="0" tIns="0" rIns="0" bIns="0" rtlCol="0" anchor="ctr"/>
          <a:lstStyle/>
          <a:p>
            <a:pPr indent="0" marL="0">
              <a:buNone/>
            </a:pPr>
            <a:r>
              <a:rPr lang="en-US" sz="1080" b="1" dirty="0">
                <a:solidFill>
                  <a:srgbClr val="5C6B8A"/>
                </a:solidFill>
                <a:latin typeface="Calibri" pitchFamily="34" charset="0"/>
                <a:ea typeface="Calibri" pitchFamily="34" charset="-122"/>
                <a:cs typeface="Calibri" pitchFamily="34" charset="-120"/>
              </a:rPr>
              <a:t>User:  </a:t>
            </a:r>
            <a:pPr indent="0" marL="0">
              <a:buNone/>
            </a:pPr>
            <a:r>
              <a:rPr lang="en-US" sz="1080" i="1" dirty="0">
                <a:solidFill>
                  <a:srgbClr val="1A1F3B"/>
                </a:solidFill>
                <a:latin typeface="Calibri" pitchFamily="34" charset="0"/>
                <a:ea typeface="Calibri" pitchFamily="34" charset="-122"/>
                <a:cs typeface="Calibri" pitchFamily="34" charset="-120"/>
              </a:rPr>
              <a:t>"dinner with mum"</a:t>
            </a:r>
            <a:endParaRPr lang="en-US" sz="1080" dirty="0"/>
          </a:p>
        </p:txBody>
      </p:sp>
      <p:sp>
        <p:nvSpPr>
          <p:cNvPr id="9" name="Text 7"/>
          <p:cNvSpPr/>
          <p:nvPr/>
        </p:nvSpPr>
        <p:spPr>
          <a:xfrm>
            <a:off x="731520" y="3273552"/>
            <a:ext cx="4240859" cy="365760"/>
          </a:xfrm>
          <a:prstGeom prst="rect">
            <a:avLst/>
          </a:prstGeom>
          <a:noFill/>
          <a:ln/>
        </p:spPr>
        <p:txBody>
          <a:bodyPr wrap="square" lIns="0" tIns="0" rIns="0" bIns="0" rtlCol="0" anchor="ctr"/>
          <a:lstStyle/>
          <a:p>
            <a:pPr indent="0" marL="0">
              <a:buNone/>
            </a:pPr>
            <a:r>
              <a:rPr lang="en-US" sz="1080" b="1" dirty="0">
                <a:solidFill>
                  <a:srgbClr val="1E2761"/>
                </a:solidFill>
                <a:latin typeface="Calibri" pitchFamily="34" charset="0"/>
                <a:ea typeface="Calibri" pitchFamily="34" charset="-122"/>
                <a:cs typeface="Calibri" pitchFamily="34" charset="-120"/>
              </a:rPr>
              <a:t>Engine:  </a:t>
            </a:r>
            <a:pPr indent="0" marL="0">
              <a:buNone/>
            </a:pPr>
            <a:r>
              <a:rPr lang="en-US" sz="1080" dirty="0">
                <a:solidFill>
                  <a:srgbClr val="1A1F3B"/>
                </a:solidFill>
                <a:latin typeface="Calibri" pitchFamily="34" charset="0"/>
                <a:ea typeface="Calibri" pitchFamily="34" charset="-122"/>
                <a:cs typeface="Calibri" pitchFamily="34" charset="-120"/>
              </a:rPr>
              <a:t>"When should I remind you?"</a:t>
            </a:r>
            <a:endParaRPr lang="en-US" sz="1080" dirty="0"/>
          </a:p>
        </p:txBody>
      </p:sp>
      <p:sp>
        <p:nvSpPr>
          <p:cNvPr id="10" name="Text 8"/>
          <p:cNvSpPr/>
          <p:nvPr/>
        </p:nvSpPr>
        <p:spPr>
          <a:xfrm>
            <a:off x="731520" y="3657600"/>
            <a:ext cx="4240859" cy="365760"/>
          </a:xfrm>
          <a:prstGeom prst="rect">
            <a:avLst/>
          </a:prstGeom>
          <a:noFill/>
          <a:ln/>
        </p:spPr>
        <p:txBody>
          <a:bodyPr wrap="square" lIns="0" tIns="0" rIns="0" bIns="0" rtlCol="0" anchor="ctr"/>
          <a:lstStyle/>
          <a:p>
            <a:pPr indent="0" marL="0">
              <a:buNone/>
            </a:pPr>
            <a:r>
              <a:rPr lang="en-US" sz="1080" b="1" dirty="0">
                <a:solidFill>
                  <a:srgbClr val="5C6B8A"/>
                </a:solidFill>
                <a:latin typeface="Calibri" pitchFamily="34" charset="0"/>
                <a:ea typeface="Calibri" pitchFamily="34" charset="-122"/>
                <a:cs typeface="Calibri" pitchFamily="34" charset="-120"/>
              </a:rPr>
              <a:t>User:  </a:t>
            </a:r>
            <a:pPr indent="0" marL="0">
              <a:buNone/>
            </a:pPr>
            <a:r>
              <a:rPr lang="en-US" sz="1080" i="1" dirty="0">
                <a:solidFill>
                  <a:srgbClr val="1A1F3B"/>
                </a:solidFill>
                <a:latin typeface="Calibri" pitchFamily="34" charset="0"/>
                <a:ea typeface="Calibri" pitchFamily="34" charset="-122"/>
                <a:cs typeface="Calibri" pitchFamily="34" charset="-120"/>
              </a:rPr>
              <a:t>"tomorrow at 7pm"</a:t>
            </a:r>
            <a:endParaRPr lang="en-US" sz="1080" dirty="0"/>
          </a:p>
        </p:txBody>
      </p:sp>
      <p:sp>
        <p:nvSpPr>
          <p:cNvPr id="11" name="Text 9"/>
          <p:cNvSpPr/>
          <p:nvPr/>
        </p:nvSpPr>
        <p:spPr>
          <a:xfrm>
            <a:off x="731520" y="4041648"/>
            <a:ext cx="4240859" cy="365760"/>
          </a:xfrm>
          <a:prstGeom prst="rect">
            <a:avLst/>
          </a:prstGeom>
          <a:noFill/>
          <a:ln/>
        </p:spPr>
        <p:txBody>
          <a:bodyPr wrap="square" lIns="0" tIns="0" rIns="0" bIns="0" rtlCol="0" anchor="ctr"/>
          <a:lstStyle/>
          <a:p>
            <a:pPr indent="0" marL="0">
              <a:buNone/>
            </a:pPr>
            <a:r>
              <a:rPr lang="en-US" sz="1080" b="1" dirty="0">
                <a:solidFill>
                  <a:srgbClr val="1E2761"/>
                </a:solidFill>
                <a:latin typeface="Calibri" pitchFamily="34" charset="0"/>
                <a:ea typeface="Calibri" pitchFamily="34" charset="-122"/>
                <a:cs typeface="Calibri" pitchFamily="34" charset="-120"/>
              </a:rPr>
              <a:t>Engine:  </a:t>
            </a:r>
            <a:pPr indent="0" marL="0">
              <a:buNone/>
            </a:pPr>
            <a:r>
              <a:rPr lang="en-US" sz="1080" dirty="0">
                <a:solidFill>
                  <a:srgbClr val="1A1F3B"/>
                </a:solidFill>
                <a:latin typeface="Calibri" pitchFamily="34" charset="0"/>
                <a:ea typeface="Calibri" pitchFamily="34" charset="-122"/>
                <a:cs typeface="Calibri" pitchFamily="34" charset="-120"/>
              </a:rPr>
              <a:t>✓ Reminder set — tomorrow 19:00, dinner with mum</a:t>
            </a:r>
            <a:endParaRPr lang="en-US" sz="1080" dirty="0"/>
          </a:p>
        </p:txBody>
      </p:sp>
      <p:sp>
        <p:nvSpPr>
          <p:cNvPr id="12" name="Shape 10"/>
          <p:cNvSpPr/>
          <p:nvPr/>
        </p:nvSpPr>
        <p:spPr>
          <a:xfrm>
            <a:off x="5521019" y="1600200"/>
            <a:ext cx="6167756" cy="3063240"/>
          </a:xfrm>
          <a:prstGeom prst="roundRect">
            <a:avLst>
              <a:gd name="adj" fmla="val 2388"/>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3" name="Text 11"/>
          <p:cNvSpPr/>
          <p:nvPr/>
        </p:nvSpPr>
        <p:spPr>
          <a:xfrm>
            <a:off x="5749619" y="1764792"/>
            <a:ext cx="5710556"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Key design decisions</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49619" y="2084832"/>
          <a:ext cx="5710556" cy="2377440"/>
        </p:xfrm>
        <a:graphic>
          <a:graphicData uri="http://schemas.openxmlformats.org/drawingml/2006/table">
            <a:tbl>
              <a:tblPr/>
              <a:tblGrid>
                <a:gridCol w="2626856"/>
                <a:gridCol w="3083700"/>
              </a:tblGrid>
              <a:tr h="475488">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Guard</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Purpose</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r>
              <a:tr h="475488">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MAX_SLOT_ATTEMPTS = 3</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prevents infinite loops on unrecognisable answers</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5488">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Context TTL = 90s</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stale context from a prior turn can't re-fire</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5488">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Session TTL = 600s</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idle sessions reset cleanly</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5488">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Interrupt ≥ 0.85 (exact/regex only)</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030" dirty="0">
                          <a:solidFill>
                            <a:srgbClr val="1A1F3B"/>
                          </a:solidFill>
                          <a:latin typeface="Calibri" pitchFamily="34" charset="0"/>
                          <a:ea typeface="Calibri" pitchFamily="34" charset="-122"/>
                          <a:cs typeface="Calibri" pitchFamily="34" charset="-120"/>
                        </a:rPr>
                        <a:t>strong new command cancels slot fill; weak “contains” can't</a:t>
                      </a:r>
                      <a:endParaRPr lang="en-US" sz="103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bl>
          </a:graphicData>
        </a:graphic>
      </p:graphicFrame>
      <p:sp>
        <p:nvSpPr>
          <p:cNvPr id="15" name="Shape 12"/>
          <p:cNvSpPr/>
          <p:nvPr/>
        </p:nvSpPr>
        <p:spPr>
          <a:xfrm>
            <a:off x="502920" y="4864608"/>
            <a:ext cx="11185855" cy="1371600"/>
          </a:xfrm>
          <a:prstGeom prst="roundRect">
            <a:avLst>
              <a:gd name="adj" fmla="val 5333"/>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6" name="Text 13"/>
          <p:cNvSpPr/>
          <p:nvPr/>
        </p:nvSpPr>
        <p:spPr>
          <a:xfrm>
            <a:off x="777240" y="4992624"/>
            <a:ext cx="10637215"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State machine</a:t>
            </a:r>
            <a:endParaRPr lang="en-US" sz="1300" dirty="0"/>
          </a:p>
        </p:txBody>
      </p:sp>
      <p:sp>
        <p:nvSpPr>
          <p:cNvPr id="17" name="Shape 14"/>
          <p:cNvSpPr/>
          <p:nvPr/>
        </p:nvSpPr>
        <p:spPr>
          <a:xfrm>
            <a:off x="777240" y="5376672"/>
            <a:ext cx="2453564" cy="548640"/>
          </a:xfrm>
          <a:prstGeom prst="roundRect">
            <a:avLst>
              <a:gd name="adj" fmla="val 50000"/>
            </a:avLst>
          </a:prstGeom>
          <a:solidFill>
            <a:srgbClr val="1E2761"/>
          </a:solidFill>
          <a:ln/>
        </p:spPr>
      </p:sp>
      <p:sp>
        <p:nvSpPr>
          <p:cNvPr id="18" name="Text 15"/>
          <p:cNvSpPr/>
          <p:nvPr/>
        </p:nvSpPr>
        <p:spPr>
          <a:xfrm>
            <a:off x="777240" y="5376672"/>
            <a:ext cx="245356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CLASSIFY</a:t>
            </a:r>
            <a:endParaRPr lang="en-US" sz="1150" dirty="0"/>
          </a:p>
        </p:txBody>
      </p:sp>
      <p:sp>
        <p:nvSpPr>
          <p:cNvPr id="19" name="Shape 16"/>
          <p:cNvSpPr/>
          <p:nvPr/>
        </p:nvSpPr>
        <p:spPr>
          <a:xfrm>
            <a:off x="3230804" y="5513832"/>
            <a:ext cx="274320" cy="274320"/>
          </a:xfrm>
          <a:prstGeom prst="rightArrow">
            <a:avLst/>
          </a:prstGeom>
          <a:solidFill>
            <a:srgbClr val="5C6B8A"/>
          </a:solidFill>
          <a:ln/>
        </p:spPr>
      </p:sp>
      <p:sp>
        <p:nvSpPr>
          <p:cNvPr id="20" name="Shape 17"/>
          <p:cNvSpPr/>
          <p:nvPr/>
        </p:nvSpPr>
        <p:spPr>
          <a:xfrm>
            <a:off x="3505124" y="5376672"/>
            <a:ext cx="2453564" cy="548640"/>
          </a:xfrm>
          <a:prstGeom prst="roundRect">
            <a:avLst>
              <a:gd name="adj" fmla="val 50000"/>
            </a:avLst>
          </a:prstGeom>
          <a:solidFill>
            <a:srgbClr val="1E2761"/>
          </a:solidFill>
          <a:ln/>
        </p:spPr>
      </p:sp>
      <p:sp>
        <p:nvSpPr>
          <p:cNvPr id="21" name="Text 18"/>
          <p:cNvSpPr/>
          <p:nvPr/>
        </p:nvSpPr>
        <p:spPr>
          <a:xfrm>
            <a:off x="3505124" y="5376672"/>
            <a:ext cx="245356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PROMPT</a:t>
            </a:r>
            <a:endParaRPr lang="en-US" sz="1150" dirty="0"/>
          </a:p>
        </p:txBody>
      </p:sp>
      <p:sp>
        <p:nvSpPr>
          <p:cNvPr id="22" name="Shape 19"/>
          <p:cNvSpPr/>
          <p:nvPr/>
        </p:nvSpPr>
        <p:spPr>
          <a:xfrm>
            <a:off x="5958688" y="5513832"/>
            <a:ext cx="274320" cy="274320"/>
          </a:xfrm>
          <a:prstGeom prst="rightArrow">
            <a:avLst/>
          </a:prstGeom>
          <a:solidFill>
            <a:srgbClr val="5C6B8A"/>
          </a:solidFill>
          <a:ln/>
        </p:spPr>
      </p:sp>
      <p:sp>
        <p:nvSpPr>
          <p:cNvPr id="23" name="Shape 20"/>
          <p:cNvSpPr/>
          <p:nvPr/>
        </p:nvSpPr>
        <p:spPr>
          <a:xfrm>
            <a:off x="6233008" y="5376672"/>
            <a:ext cx="2453564" cy="548640"/>
          </a:xfrm>
          <a:prstGeom prst="roundRect">
            <a:avLst>
              <a:gd name="adj" fmla="val 50000"/>
            </a:avLst>
          </a:prstGeom>
          <a:solidFill>
            <a:srgbClr val="1E2761"/>
          </a:solidFill>
          <a:ln/>
        </p:spPr>
      </p:sp>
      <p:sp>
        <p:nvSpPr>
          <p:cNvPr id="24" name="Text 21"/>
          <p:cNvSpPr/>
          <p:nvPr/>
        </p:nvSpPr>
        <p:spPr>
          <a:xfrm>
            <a:off x="6233008" y="5376672"/>
            <a:ext cx="245356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FILL</a:t>
            </a:r>
            <a:endParaRPr lang="en-US" sz="1150" dirty="0"/>
          </a:p>
        </p:txBody>
      </p:sp>
      <p:sp>
        <p:nvSpPr>
          <p:cNvPr id="25" name="Shape 22"/>
          <p:cNvSpPr/>
          <p:nvPr/>
        </p:nvSpPr>
        <p:spPr>
          <a:xfrm>
            <a:off x="8686571" y="5513832"/>
            <a:ext cx="274320" cy="274320"/>
          </a:xfrm>
          <a:prstGeom prst="rightArrow">
            <a:avLst/>
          </a:prstGeom>
          <a:solidFill>
            <a:srgbClr val="5C6B8A"/>
          </a:solidFill>
          <a:ln/>
        </p:spPr>
      </p:sp>
      <p:sp>
        <p:nvSpPr>
          <p:cNvPr id="26" name="Shape 23"/>
          <p:cNvSpPr/>
          <p:nvPr/>
        </p:nvSpPr>
        <p:spPr>
          <a:xfrm>
            <a:off x="8960891" y="5376672"/>
            <a:ext cx="2453564" cy="548640"/>
          </a:xfrm>
          <a:prstGeom prst="roundRect">
            <a:avLst>
              <a:gd name="adj" fmla="val 50000"/>
            </a:avLst>
          </a:prstGeom>
          <a:solidFill>
            <a:srgbClr val="1E2761"/>
          </a:solidFill>
          <a:ln/>
        </p:spPr>
      </p:sp>
      <p:sp>
        <p:nvSpPr>
          <p:cNvPr id="27" name="Text 24"/>
          <p:cNvSpPr/>
          <p:nvPr/>
        </p:nvSpPr>
        <p:spPr>
          <a:xfrm>
            <a:off x="8960891" y="5376672"/>
            <a:ext cx="245356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FULFILL</a:t>
            </a:r>
            <a:endParaRPr lang="en-US" sz="1150" dirty="0"/>
          </a:p>
        </p:txBody>
      </p:sp>
      <p:sp>
        <p:nvSpPr>
          <p:cNvPr id="28" name="Text 25"/>
          <p:cNvSpPr/>
          <p:nvPr/>
        </p:nvSpPr>
        <p:spPr>
          <a:xfrm>
            <a:off x="777240" y="5897880"/>
            <a:ext cx="10637215" cy="228600"/>
          </a:xfrm>
          <a:prstGeom prst="rect">
            <a:avLst/>
          </a:prstGeom>
          <a:noFill/>
          <a:ln/>
        </p:spPr>
        <p:txBody>
          <a:bodyPr wrap="square" lIns="0" tIns="0" rIns="0" bIns="0" rtlCol="0" anchor="ctr"/>
          <a:lstStyle/>
          <a:p>
            <a:pPr indent="0" marL="0">
              <a:buNone/>
            </a:pPr>
            <a:r>
              <a:rPr lang="en-US" sz="1000" i="1" dirty="0">
                <a:solidFill>
                  <a:srgbClr val="5C6B8A"/>
                </a:solidFill>
                <a:latin typeface="Calibri" pitchFamily="34" charset="0"/>
                <a:ea typeface="Calibri" pitchFamily="34" charset="-122"/>
                <a:cs typeface="Calibri" pitchFamily="34" charset="-120"/>
              </a:rPr>
              <a:t>INTERRUPT (conf ≥ 0.85) can re-enter CLASSIFY from any state, discarding the pending slot</a:t>
            </a:r>
            <a:endParaRPr lang="en-US" sz="1000" dirty="0"/>
          </a:p>
        </p:txBody>
      </p:sp>
      <p:sp>
        <p:nvSpPr>
          <p:cNvPr id="29" name="Text 26"/>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02 · ARCHITECTURE — ENTITIES</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Entity Extraction: DateTime &amp; Fuzzy Enums</a:t>
            </a:r>
            <a:endParaRPr lang="en-US" sz="3000" dirty="0"/>
          </a:p>
        </p:txBody>
      </p:sp>
      <p:sp>
        <p:nvSpPr>
          <p:cNvPr id="4" name="Shape 2"/>
          <p:cNvSpPr/>
          <p:nvPr/>
        </p:nvSpPr>
        <p:spPr>
          <a:xfrm>
            <a:off x="502920" y="1645920"/>
            <a:ext cx="5410048" cy="3017520"/>
          </a:xfrm>
          <a:prstGeom prst="roundRect">
            <a:avLst>
              <a:gd name="adj" fmla="val 2424"/>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Text 3"/>
          <p:cNvSpPr/>
          <p:nvPr/>
        </p:nvSpPr>
        <p:spPr>
          <a:xfrm>
            <a:off x="731520" y="1828800"/>
            <a:ext cx="4952848"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DateTime parsing</a:t>
            </a:r>
            <a:endParaRPr lang="en-US" sz="1450" dirty="0"/>
          </a:p>
        </p:txBody>
      </p:sp>
      <p:sp>
        <p:nvSpPr>
          <p:cNvPr id="6" name="Text 4"/>
          <p:cNvSpPr/>
          <p:nvPr/>
        </p:nvSpPr>
        <p:spPr>
          <a:xfrm>
            <a:off x="731520" y="2240280"/>
            <a:ext cx="4952848" cy="658368"/>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Natural language: "tomorrow at 7pm", "next Monday morning", "in 2 hours"</a:t>
            </a:r>
            <a:endParaRPr lang="en-US" sz="1130" dirty="0"/>
          </a:p>
        </p:txBody>
      </p:sp>
      <p:sp>
        <p:nvSpPr>
          <p:cNvPr id="7" name="Text 5"/>
          <p:cNvSpPr/>
          <p:nvPr/>
        </p:nvSpPr>
        <p:spPr>
          <a:xfrm>
            <a:off x="731520" y="2926080"/>
            <a:ext cx="4952848" cy="658368"/>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Stored as UTC ISO 8601 with offset — fixes the original local-naive bug that broke reminders across timezones</a:t>
            </a:r>
            <a:endParaRPr lang="en-US" sz="1130" dirty="0"/>
          </a:p>
        </p:txBody>
      </p:sp>
      <p:sp>
        <p:nvSpPr>
          <p:cNvPr id="8" name="Text 6"/>
          <p:cNvSpPr/>
          <p:nvPr/>
        </p:nvSpPr>
        <p:spPr>
          <a:xfrm>
            <a:off x="731520" y="3611880"/>
            <a:ext cx="4952848" cy="658368"/>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Edge guards: "quarter to 13" (invalid hour), "0 to 3" (minute=60) return None safely instead of raising ValueError</a:t>
            </a:r>
            <a:endParaRPr lang="en-US" sz="1130" dirty="0"/>
          </a:p>
        </p:txBody>
      </p:sp>
      <p:sp>
        <p:nvSpPr>
          <p:cNvPr id="9" name="Shape 7"/>
          <p:cNvSpPr/>
          <p:nvPr/>
        </p:nvSpPr>
        <p:spPr>
          <a:xfrm>
            <a:off x="6278728" y="1645920"/>
            <a:ext cx="5410048" cy="3017520"/>
          </a:xfrm>
          <a:prstGeom prst="roundRect">
            <a:avLst>
              <a:gd name="adj" fmla="val 2424"/>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0" name="Text 8"/>
          <p:cNvSpPr/>
          <p:nvPr/>
        </p:nvSpPr>
        <p:spPr>
          <a:xfrm>
            <a:off x="6507328" y="1828800"/>
            <a:ext cx="4952848"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Fuzzy enum matching (memory modes)</a:t>
            </a:r>
            <a:endParaRPr lang="en-US" sz="1450" dirty="0"/>
          </a:p>
        </p:txBody>
      </p:sp>
      <p:sp>
        <p:nvSpPr>
          <p:cNvPr id="11" name="Text 9"/>
          <p:cNvSpPr/>
          <p:nvPr/>
        </p:nvSpPr>
        <p:spPr>
          <a:xfrm>
            <a:off x="6507328" y="2240280"/>
            <a:ext cx="4952848" cy="548640"/>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Exact match first: "Restaurant" → Restaurant</a:t>
            </a:r>
            <a:endParaRPr lang="en-US" sz="1130" dirty="0"/>
          </a:p>
        </p:txBody>
      </p:sp>
      <p:sp>
        <p:nvSpPr>
          <p:cNvPr id="12" name="Text 10"/>
          <p:cNvSpPr/>
          <p:nvPr/>
        </p:nvSpPr>
        <p:spPr>
          <a:xfrm>
            <a:off x="6507328" y="2807208"/>
            <a:ext cx="4952848" cy="548640"/>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Fuzzy second (Levenshtein ratio ≥ 0.3): "restraunt" → Restaurant</a:t>
            </a:r>
            <a:endParaRPr lang="en-US" sz="1130" dirty="0"/>
          </a:p>
        </p:txBody>
      </p:sp>
      <p:sp>
        <p:nvSpPr>
          <p:cNvPr id="13" name="Text 11"/>
          <p:cNvSpPr/>
          <p:nvPr/>
        </p:nvSpPr>
        <p:spPr>
          <a:xfrm>
            <a:off x="6507328" y="3374136"/>
            <a:ext cx="4952848" cy="548640"/>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Length gate: words &lt; 5 chars bypass fuzzy — fixes "cab"→"Car", "gum"→"Gym" false collisions</a:t>
            </a:r>
            <a:endParaRPr lang="en-US" sz="1130" dirty="0"/>
          </a:p>
        </p:txBody>
      </p:sp>
      <p:sp>
        <p:nvSpPr>
          <p:cNvPr id="14" name="Text 12"/>
          <p:cNvSpPr/>
          <p:nvPr/>
        </p:nvSpPr>
        <p:spPr>
          <a:xfrm>
            <a:off x="6507328" y="3941064"/>
            <a:ext cx="4952848" cy="548640"/>
          </a:xfrm>
          <a:prstGeom prst="rect">
            <a:avLst/>
          </a:prstGeom>
          <a:noFill/>
          <a:ln/>
        </p:spPr>
        <p:txBody>
          <a:bodyPr wrap="square" lIns="0" tIns="0" rIns="0" bIns="0" rtlCol="0" anchor="ctr"/>
          <a:lstStyle/>
          <a:p>
            <a:pPr marL="342900" indent="-342900">
              <a:buSzPct val="100000"/>
              <a:buChar char="•"/>
            </a:pPr>
            <a:r>
              <a:rPr lang="en-US" sz="1130" dirty="0">
                <a:solidFill>
                  <a:srgbClr val="1A1F3B"/>
                </a:solidFill>
                <a:latin typeface="Calibri" pitchFamily="34" charset="0"/>
                <a:ea typeface="Calibri" pitchFamily="34" charset="-122"/>
                <a:cs typeface="Calibri" pitchFamily="34" charset="-120"/>
              </a:rPr>
              <a:t>One-shot initial scan disables fuzzy entirely — only explicit slot answers get it</a:t>
            </a:r>
            <a:endParaRPr lang="en-US" sz="1130" dirty="0"/>
          </a:p>
        </p:txBody>
      </p:sp>
      <p:sp>
        <p:nvSpPr>
          <p:cNvPr id="15" name="Shape 13"/>
          <p:cNvSpPr/>
          <p:nvPr/>
        </p:nvSpPr>
        <p:spPr>
          <a:xfrm>
            <a:off x="502920" y="4846320"/>
            <a:ext cx="11185855" cy="1280160"/>
          </a:xfrm>
          <a:prstGeom prst="roundRect">
            <a:avLst>
              <a:gd name="adj" fmla="val 5714"/>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6" name="Text 14"/>
          <p:cNvSpPr/>
          <p:nvPr/>
        </p:nvSpPr>
        <p:spPr>
          <a:xfrm>
            <a:off x="777240" y="4983480"/>
            <a:ext cx="10637215"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Back-reference resolution</a:t>
            </a:r>
            <a:endParaRPr lang="en-US" sz="1350" dirty="0"/>
          </a:p>
        </p:txBody>
      </p:sp>
      <p:sp>
        <p:nvSpPr>
          <p:cNvPr id="17" name="Text 15"/>
          <p:cNvSpPr/>
          <p:nvPr/>
        </p:nvSpPr>
        <p:spPr>
          <a:xfrm>
            <a:off x="777240" y="5303520"/>
            <a:ext cx="10637215" cy="731520"/>
          </a:xfrm>
          <a:prstGeom prst="rect">
            <a:avLst/>
          </a:prstGeom>
          <a:noFill/>
          <a:ln/>
        </p:spPr>
        <p:txBody>
          <a:bodyPr wrap="square" lIns="0" tIns="0" rIns="0" bIns="0" rtlCol="0" anchor="ctr"/>
          <a:lstStyle/>
          <a:p>
            <a:pPr indent="0" marL="0">
              <a:buNone/>
            </a:pPr>
            <a:r>
              <a:rPr lang="en-US" sz="1150" dirty="0">
                <a:solidFill>
                  <a:srgbClr val="1A1F3B"/>
                </a:solidFill>
                <a:latin typeface="Calibri" pitchFamily="34" charset="0"/>
                <a:ea typeface="Calibri" pitchFamily="34" charset="-122"/>
                <a:cs typeface="Calibri" pitchFamily="34" charset="-120"/>
              </a:rPr>
              <a:t>"Change back" / "Remind me again" resolve from session state via a declarative back_reference field in the schema — not hardcoded per-intent, so new back-referenceable intents need zero engine code.</a:t>
            </a:r>
            <a:endParaRPr lang="en-US" sz="1150" dirty="0"/>
          </a:p>
        </p:txBody>
      </p:sp>
      <p:sp>
        <p:nvSpPr>
          <p:cNvPr id="18" name="Text 16"/>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03 · DATA &amp; ACCURACY</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Training Data &amp; Quality Controls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5855" cy="2468880"/>
        </p:xfrm>
        <a:graphic>
          <a:graphicData uri="http://schemas.openxmlformats.org/drawingml/2006/table">
            <a:tbl>
              <a:tblPr/>
              <a:tblGrid>
                <a:gridCol w="4474342"/>
                <a:gridCol w="1118586"/>
                <a:gridCol w="1566020"/>
                <a:gridCol w="4026908"/>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File</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Rows</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Kind</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r>
              <a:tr h="411480">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04_GENERATED_MASTER_training_data.csv</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~9,991</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generated</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the training set this classifier reads</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01_source_base_training_data.csv</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8,325</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hand-maintained base corpus</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02_source_manual_corrections.csv</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309</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hand-written conversational paraphrases</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03_generated_augmented_phrases.csv</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1,378</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generated</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augmentation phrases merged into master</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semantic_holdout_2.csv</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341</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50" dirty="0">
                          <a:solidFill>
                            <a:srgbClr val="1A1F3B"/>
                          </a:solidFill>
                          <a:latin typeface="Calibri" pitchFamily="34" charset="0"/>
                          <a:ea typeface="Calibri" pitchFamily="34" charset="-122"/>
                          <a:cs typeface="Calibri" pitchFamily="34" charset="-120"/>
                        </a:rPr>
                        <a:t>current permanent evaluation benchmark — never trained on</a:t>
                      </a:r>
                      <a:endParaRPr lang="en-US" sz="115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297680"/>
            <a:ext cx="5410048" cy="1874520"/>
          </a:xfrm>
          <a:prstGeom prst="roundRect">
            <a:avLst>
              <a:gd name="adj" fmla="val 3902"/>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6" name="Text 3"/>
          <p:cNvSpPr/>
          <p:nvPr/>
        </p:nvSpPr>
        <p:spPr>
          <a:xfrm>
            <a:off x="731520" y="4434840"/>
            <a:ext cx="4952848"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How train.py handles imbalance &amp; leakage</a:t>
            </a:r>
            <a:endParaRPr lang="en-US" sz="1300" dirty="0"/>
          </a:p>
        </p:txBody>
      </p:sp>
      <p:sp>
        <p:nvSpPr>
          <p:cNvPr id="7" name="Text 4"/>
          <p:cNvSpPr/>
          <p:nvPr/>
        </p:nvSpPr>
        <p:spPr>
          <a:xfrm>
            <a:off x="731520" y="4736592"/>
            <a:ext cx="4952848" cy="438912"/>
          </a:xfrm>
          <a:prstGeom prst="rect">
            <a:avLst/>
          </a:prstGeom>
          <a:noFill/>
          <a:ln/>
        </p:spPr>
        <p:txBody>
          <a:bodyPr wrap="square" lIns="0" tIns="0" rIns="0" bIns="0" rtlCol="0" anchor="ctr"/>
          <a:lstStyle/>
          <a:p>
            <a:pPr marL="342900" indent="-342900">
              <a:buSzPct val="100000"/>
              <a:buChar char="•"/>
            </a:pPr>
            <a:r>
              <a:rPr lang="en-US" sz="1050" dirty="0">
                <a:solidFill>
                  <a:srgbClr val="1A1F3B"/>
                </a:solidFill>
                <a:latin typeface="Calibri" pitchFamily="34" charset="0"/>
                <a:ea typeface="Calibri" pitchFamily="34" charset="-122"/>
                <a:cs typeface="Calibri" pitchFamily="34" charset="-120"/>
              </a:rPr>
              <a:t>MAX_PER_INTENT = 500, deterministic keep-newest capping — same logical dataset always produces the same weights</a:t>
            </a:r>
            <a:endParaRPr lang="en-US" sz="1050" dirty="0"/>
          </a:p>
        </p:txBody>
      </p:sp>
      <p:sp>
        <p:nvSpPr>
          <p:cNvPr id="8" name="Text 5"/>
          <p:cNvSpPr/>
          <p:nvPr/>
        </p:nvSpPr>
        <p:spPr>
          <a:xfrm>
            <a:off x="731520" y="5193792"/>
            <a:ext cx="4952848" cy="438912"/>
          </a:xfrm>
          <a:prstGeom prst="rect">
            <a:avLst/>
          </a:prstGeom>
          <a:noFill/>
          <a:ln/>
        </p:spPr>
        <p:txBody>
          <a:bodyPr wrap="square" lIns="0" tIns="0" rIns="0" bIns="0" rtlCol="0" anchor="ctr"/>
          <a:lstStyle/>
          <a:p>
            <a:pPr marL="342900" indent="-342900">
              <a:buSzPct val="100000"/>
              <a:buChar char="•"/>
            </a:pPr>
            <a:r>
              <a:rPr lang="en-US" sz="1050" dirty="0">
                <a:solidFill>
                  <a:srgbClr val="1A1F3B"/>
                </a:solidFill>
                <a:latin typeface="Calibri" pitchFamily="34" charset="0"/>
                <a:ea typeface="Calibri" pitchFamily="34" charset="-122"/>
                <a:cs typeface="Calibri" pitchFamily="34" charset="-120"/>
              </a:rPr>
              <a:t>class_weight="balanced" compensates for intents with far fewer examples</a:t>
            </a:r>
            <a:endParaRPr lang="en-US" sz="1050" dirty="0"/>
          </a:p>
        </p:txBody>
      </p:sp>
      <p:sp>
        <p:nvSpPr>
          <p:cNvPr id="9" name="Text 6"/>
          <p:cNvSpPr/>
          <p:nvPr/>
        </p:nvSpPr>
        <p:spPr>
          <a:xfrm>
            <a:off x="731520" y="5650992"/>
            <a:ext cx="4952848" cy="438912"/>
          </a:xfrm>
          <a:prstGeom prst="rect">
            <a:avLst/>
          </a:prstGeom>
          <a:noFill/>
          <a:ln/>
        </p:spPr>
        <p:txBody>
          <a:bodyPr wrap="square" lIns="0" tIns="0" rIns="0" bIns="0" rtlCol="0" anchor="ctr"/>
          <a:lstStyle/>
          <a:p>
            <a:pPr marL="342900" indent="-342900">
              <a:buSzPct val="100000"/>
              <a:buChar char="•"/>
            </a:pPr>
            <a:r>
              <a:rPr lang="en-US" sz="1050" dirty="0">
                <a:solidFill>
                  <a:srgbClr val="1A1F3B"/>
                </a:solidFill>
                <a:latin typeface="Calibri" pitchFamily="34" charset="0"/>
                <a:ea typeface="Calibri" pitchFamily="34" charset="-122"/>
                <a:cs typeface="Calibri" pitchFamily="34" charset="-120"/>
              </a:rPr>
              <a:t>Leakage guard: build hard-fails if any holdout phrase appears in training data</a:t>
            </a:r>
            <a:endParaRPr lang="en-US" sz="1050" dirty="0"/>
          </a:p>
        </p:txBody>
      </p:sp>
      <p:sp>
        <p:nvSpPr>
          <p:cNvPr id="10" name="Shape 7"/>
          <p:cNvSpPr/>
          <p:nvPr/>
        </p:nvSpPr>
        <p:spPr>
          <a:xfrm>
            <a:off x="6278728" y="4297680"/>
            <a:ext cx="5410048" cy="1874520"/>
          </a:xfrm>
          <a:prstGeom prst="roundRect">
            <a:avLst>
              <a:gd name="adj" fmla="val 3902"/>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1" name="Text 8"/>
          <p:cNvSpPr/>
          <p:nvPr/>
        </p:nvSpPr>
        <p:spPr>
          <a:xfrm>
            <a:off x="6507328" y="4434840"/>
            <a:ext cx="4952848"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this matters</a:t>
            </a:r>
            <a:endParaRPr lang="en-US" sz="1300" dirty="0"/>
          </a:p>
        </p:txBody>
      </p:sp>
      <p:sp>
        <p:nvSpPr>
          <p:cNvPr id="12" name="Text 9"/>
          <p:cNvSpPr/>
          <p:nvPr/>
        </p:nvSpPr>
        <p:spPr>
          <a:xfrm>
            <a:off x="6507328" y="4736592"/>
            <a:ext cx="4952848" cy="1325880"/>
          </a:xfrm>
          <a:prstGeom prst="rect">
            <a:avLst/>
          </a:prstGeom>
          <a:noFill/>
          <a:ln/>
        </p:spPr>
        <p:txBody>
          <a:bodyPr wrap="square" lIns="0" tIns="0" rIns="0" bIns="0" rtlCol="0" anchor="ctr"/>
          <a:lstStyle/>
          <a:p>
            <a:pPr indent="0" marL="0">
              <a:buNone/>
            </a:pPr>
            <a:r>
              <a:rPr lang="en-US" sz="1050" dirty="0">
                <a:solidFill>
                  <a:srgbClr val="1A1F3B"/>
                </a:solidFill>
                <a:latin typeface="Calibri" pitchFamily="34" charset="0"/>
                <a:ea typeface="Calibri" pitchFamily="34" charset="-122"/>
                <a:cs typeface="Calibri" pitchFamily="34" charset="-120"/>
              </a:rPr>
              <a:t>The raw master data is unevenly distributed across 60 intents by nature of real usage (some commands are asked far more often than others). Capping and class weighting keep one dominant intent from drowning out rare ones during training, and the leakage guard keeps the holdout an honest, never-seen generalisation test rather than a self-graded one.</a:t>
            </a:r>
            <a:endParaRPr lang="en-US" sz="1050" dirty="0"/>
          </a:p>
        </p:txBody>
      </p:sp>
      <p:sp>
        <p:nvSpPr>
          <p:cNvPr id="13" name="Text 10"/>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03 · DATA &amp; ACCURACY</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Model Artifacts &amp; Integrity</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7382664" cy="2834640"/>
        </p:xfrm>
        <a:graphic>
          <a:graphicData uri="http://schemas.openxmlformats.org/drawingml/2006/table">
            <a:tbl>
              <a:tblPr/>
              <a:tblGrid>
                <a:gridCol w="2510106"/>
                <a:gridCol w="3396026"/>
                <a:gridCol w="1476533"/>
              </a:tblGrid>
              <a:tr h="4724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Artifact</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r>
              <a:tr h="47244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intent_model.onnx</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deployable classifier — Android / server run this</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1.76 MB</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244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intent_labels.json / .pkl</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60-class label array; must match nlu_schema.json</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1.3 KB</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244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intent_pipeline.pkl</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dev-only sklearn pipeline (used by test_tfidf_only.py)</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2.7 MB, not shipped</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244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intent_classifier_weights.json</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iOS Swift fallback weights (vocab + IDF + coefficients)</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650 KB</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7244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manifest.json</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SHA-256 integrity record for the model bundle</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&lt; 1 KB</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bl>
          </a:graphicData>
        </a:graphic>
      </p:graphicFrame>
      <p:sp>
        <p:nvSpPr>
          <p:cNvPr id="5" name="Shape 2"/>
          <p:cNvSpPr/>
          <p:nvPr/>
        </p:nvSpPr>
        <p:spPr>
          <a:xfrm>
            <a:off x="8159904" y="1645920"/>
            <a:ext cx="3528871" cy="2834640"/>
          </a:xfrm>
          <a:prstGeom prst="roundRect">
            <a:avLst>
              <a:gd name="adj" fmla="val 2581"/>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6" name="Text 3"/>
          <p:cNvSpPr/>
          <p:nvPr/>
        </p:nvSpPr>
        <p:spPr>
          <a:xfrm>
            <a:off x="8361072" y="1810512"/>
            <a:ext cx="3126535"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it matters</a:t>
            </a:r>
            <a:endParaRPr lang="en-US" sz="1350" dirty="0"/>
          </a:p>
        </p:txBody>
      </p:sp>
      <p:sp>
        <p:nvSpPr>
          <p:cNvPr id="7" name="Text 4"/>
          <p:cNvSpPr/>
          <p:nvPr/>
        </p:nvSpPr>
        <p:spPr>
          <a:xfrm>
            <a:off x="8361072" y="2121408"/>
            <a:ext cx="3126535" cy="1371600"/>
          </a:xfrm>
          <a:prstGeom prst="rect">
            <a:avLst/>
          </a:prstGeom>
          <a:noFill/>
          <a:ln/>
        </p:spPr>
        <p:txBody>
          <a:bodyPr wrap="square" lIns="0" tIns="0" rIns="0" bIns="0" rtlCol="0" anchor="ctr"/>
          <a:lstStyle/>
          <a:p>
            <a:pPr indent="0" marL="0">
              <a:buNone/>
            </a:pPr>
            <a:r>
              <a:rPr lang="en-US" sz="1100" dirty="0">
                <a:solidFill>
                  <a:srgbClr val="1A1F3B"/>
                </a:solidFill>
                <a:latin typeface="Calibri" pitchFamily="34" charset="0"/>
                <a:ea typeface="Calibri" pitchFamily="34" charset="-122"/>
                <a:cs typeface="Calibri" pitchFamily="34" charset="-120"/>
              </a:rPr>
              <a:t>verify_manifest() runs at IntentClassifier.__init__ — startup fails fast on any hash mismatch. A corrupted or swapped model file otherwise produces wrong classifications silently. generate_manifest() runs at the end of every training run automatically.</a:t>
            </a:r>
            <a:endParaRPr lang="en-US" sz="1100" dirty="0"/>
          </a:p>
        </p:txBody>
      </p:sp>
      <p:sp>
        <p:nvSpPr>
          <p:cNvPr id="8" name="Shape 5"/>
          <p:cNvSpPr/>
          <p:nvPr/>
        </p:nvSpPr>
        <p:spPr>
          <a:xfrm>
            <a:off x="8361072" y="3611880"/>
            <a:ext cx="1737360" cy="256032"/>
          </a:xfrm>
          <a:prstGeom prst="roundRect">
            <a:avLst>
              <a:gd name="adj" fmla="val 50000"/>
            </a:avLst>
          </a:prstGeom>
          <a:solidFill>
            <a:srgbClr val="E7F3EC"/>
          </a:solidFill>
          <a:ln/>
        </p:spPr>
      </p:sp>
      <p:sp>
        <p:nvSpPr>
          <p:cNvPr id="9" name="Text 6"/>
          <p:cNvSpPr/>
          <p:nvPr/>
        </p:nvSpPr>
        <p:spPr>
          <a:xfrm>
            <a:off x="8361072" y="3611880"/>
            <a:ext cx="1737360" cy="256032"/>
          </a:xfrm>
          <a:prstGeom prst="rect">
            <a:avLst/>
          </a:prstGeom>
          <a:noFill/>
          <a:ln/>
        </p:spPr>
        <p:txBody>
          <a:bodyPr wrap="square" lIns="0" tIns="0" rIns="0" bIns="0" rtlCol="0" anchor="ctr"/>
          <a:lstStyle/>
          <a:p>
            <a:pPr algn="ctr" indent="0" marL="0">
              <a:buNone/>
            </a:pPr>
            <a:r>
              <a:rPr lang="en-US" sz="950" b="1" dirty="0">
                <a:solidFill>
                  <a:srgbClr val="1E7145"/>
                </a:solidFill>
                <a:latin typeface="Calibri" pitchFamily="34" charset="0"/>
                <a:ea typeface="Calibri" pitchFamily="34" charset="-122"/>
                <a:cs typeface="Calibri" pitchFamily="34" charset="-120"/>
              </a:rPr>
              <a:t>RESOLVED</a:t>
            </a:r>
            <a:endParaRPr lang="en-US" sz="950" dirty="0"/>
          </a:p>
        </p:txBody>
      </p:sp>
      <p:sp>
        <p:nvSpPr>
          <p:cNvPr id="10" name="Shape 7"/>
          <p:cNvSpPr/>
          <p:nvPr/>
        </p:nvSpPr>
        <p:spPr>
          <a:xfrm>
            <a:off x="502920" y="4709160"/>
            <a:ext cx="11185855" cy="1417320"/>
          </a:xfrm>
          <a:prstGeom prst="roundRect">
            <a:avLst>
              <a:gd name="adj" fmla="val 5161"/>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1" name="Text 8"/>
          <p:cNvSpPr/>
          <p:nvPr/>
        </p:nvSpPr>
        <p:spPr>
          <a:xfrm>
            <a:off x="777240" y="4846320"/>
            <a:ext cx="10637215"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On-device footprint for this model</a:t>
            </a:r>
            <a:endParaRPr lang="en-US" sz="1350" dirty="0"/>
          </a:p>
        </p:txBody>
      </p:sp>
      <p:sp>
        <p:nvSpPr>
          <p:cNvPr id="12" name="Text 9"/>
          <p:cNvSpPr/>
          <p:nvPr/>
        </p:nvSpPr>
        <p:spPr>
          <a:xfrm>
            <a:off x="777240" y="5166360"/>
            <a:ext cx="10637215" cy="822960"/>
          </a:xfrm>
          <a:prstGeom prst="rect">
            <a:avLst/>
          </a:prstGeom>
          <a:noFill/>
          <a:ln/>
        </p:spPr>
        <p:txBody>
          <a:bodyPr wrap="square" lIns="0" tIns="0" rIns="0" bIns="0" rtlCol="0" anchor="ctr"/>
          <a:lstStyle/>
          <a:p>
            <a:pPr indent="0" marL="0">
              <a:buNone/>
            </a:pPr>
            <a:r>
              <a:rPr lang="en-US" sz="1150" dirty="0">
                <a:solidFill>
                  <a:srgbClr val="1A1F3B"/>
                </a:solidFill>
                <a:latin typeface="Calibri" pitchFamily="34" charset="0"/>
                <a:ea typeface="Calibri" pitchFamily="34" charset="-122"/>
                <a:cs typeface="Calibri" pitchFamily="34" charset="-120"/>
              </a:rPr>
              <a:t>Android ships intent_model.onnx + labels — under 2 MB total. iOS ships either the same ONNX file or the ~650 KB JSON weight export for the hand-rolled Swift scorer (see Mobile Deployment). intent_pipeline.pkl is a development artifact only and never ships to a device.</a:t>
            </a:r>
            <a:endParaRPr lang="en-US" sz="1150" dirty="0"/>
          </a:p>
        </p:txBody>
      </p:sp>
      <p:sp>
        <p:nvSpPr>
          <p:cNvPr id="13" name="Text 10"/>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03 · DATA &amp; ACCURACY</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Accuracy: the Honest Current Numbers</a:t>
            </a:r>
            <a:endParaRPr lang="en-US" sz="3000" dirty="0"/>
          </a:p>
        </p:txBody>
      </p:sp>
      <p:sp>
        <p:nvSpPr>
          <p:cNvPr id="4" name="Text 2"/>
          <p:cNvSpPr/>
          <p:nvPr/>
        </p:nvSpPr>
        <p:spPr>
          <a:xfrm>
            <a:off x="502920" y="1371600"/>
            <a:ext cx="11185855" cy="320040"/>
          </a:xfrm>
          <a:prstGeom prst="rect">
            <a:avLst/>
          </a:prstGeom>
          <a:noFill/>
          <a:ln/>
        </p:spPr>
        <p:txBody>
          <a:bodyPr wrap="square" lIns="0" tIns="0" rIns="0" bIns="0" rtlCol="0" anchor="ctr"/>
          <a:lstStyle/>
          <a:p>
            <a:pPr indent="0" marL="0">
              <a:buNone/>
            </a:pPr>
            <a:r>
              <a:rPr lang="en-US" sz="1200" i="1" dirty="0">
                <a:solidFill>
                  <a:srgbClr val="5C6B8A"/>
                </a:solidFill>
                <a:latin typeface="Calibri" pitchFamily="34" charset="0"/>
                <a:ea typeface="Calibri" pitchFamily="34" charset="-122"/>
                <a:cs typeface="Calibri" pitchFamily="34" charset="-120"/>
              </a:rPr>
              <a:t>All numbers below are for the keyword + TF-IDF classifier only — no semantic/paraphrase rescue is included in these figures.</a:t>
            </a:r>
            <a:endParaRPr lang="en-US" sz="1200" dirty="0"/>
          </a:p>
        </p:txBody>
      </p:sp>
      <p:sp>
        <p:nvSpPr>
          <p:cNvPr id="5" name="Shape 3"/>
          <p:cNvSpPr/>
          <p:nvPr/>
        </p:nvSpPr>
        <p:spPr>
          <a:xfrm>
            <a:off x="502920" y="1828800"/>
            <a:ext cx="3545738" cy="1965960"/>
          </a:xfrm>
          <a:prstGeom prst="roundRect">
            <a:avLst>
              <a:gd name="adj" fmla="val 3721"/>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6" name="Text 4"/>
          <p:cNvSpPr/>
          <p:nvPr/>
        </p:nvSpPr>
        <p:spPr>
          <a:xfrm>
            <a:off x="731520" y="2011680"/>
            <a:ext cx="3088538"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 0.85</a:t>
            </a:r>
            <a:endParaRPr lang="en-US" sz="3400" dirty="0"/>
          </a:p>
        </p:txBody>
      </p:sp>
      <p:sp>
        <p:nvSpPr>
          <p:cNvPr id="7" name="Text 5"/>
          <p:cNvSpPr/>
          <p:nvPr/>
        </p:nvSpPr>
        <p:spPr>
          <a:xfrm>
            <a:off x="731520" y="2651760"/>
            <a:ext cx="3088538" cy="365760"/>
          </a:xfrm>
          <a:prstGeom prst="rect">
            <a:avLst/>
          </a:prstGeom>
          <a:noFill/>
          <a:ln/>
        </p:spPr>
        <p:txBody>
          <a:bodyPr wrap="square" lIns="0" tIns="0" rIns="0" bIns="0" rtlCol="0" anchor="ctr"/>
          <a:lstStyle/>
          <a:p>
            <a:pPr indent="0" marL="0">
              <a:buNone/>
            </a:pPr>
            <a:r>
              <a:rPr lang="en-US" sz="1250" b="1" dirty="0">
                <a:solidFill>
                  <a:srgbClr val="1A1F3B"/>
                </a:solidFill>
                <a:latin typeface="Calibri" pitchFamily="34" charset="0"/>
                <a:ea typeface="Calibri" pitchFamily="34" charset="-122"/>
                <a:cs typeface="Calibri" pitchFamily="34" charset="-120"/>
              </a:rPr>
              <a:t>Test-split accuracy gate</a:t>
            </a:r>
            <a:endParaRPr lang="en-US" sz="1250" dirty="0"/>
          </a:p>
        </p:txBody>
      </p:sp>
      <p:sp>
        <p:nvSpPr>
          <p:cNvPr id="8" name="Text 6"/>
          <p:cNvSpPr/>
          <p:nvPr/>
        </p:nvSpPr>
        <p:spPr>
          <a:xfrm>
            <a:off x="731520" y="3017520"/>
            <a:ext cx="3088538" cy="685800"/>
          </a:xfrm>
          <a:prstGeom prst="rect">
            <a:avLst/>
          </a:prstGeom>
          <a:noFill/>
          <a:ln/>
        </p:spPr>
        <p:txBody>
          <a:bodyPr wrap="square" lIns="0" tIns="0" rIns="0" bIns="0" rtlCol="0" anchor="ctr"/>
          <a:lstStyle/>
          <a:p>
            <a:pPr indent="0" marL="0">
              <a:buNone/>
            </a:pPr>
            <a:r>
              <a:rPr lang="en-US" sz="980" dirty="0">
                <a:solidFill>
                  <a:srgbClr val="5C6B8A"/>
                </a:solidFill>
                <a:latin typeface="Calibri" pitchFamily="34" charset="0"/>
                <a:ea typeface="Calibri" pitchFamily="34" charset="-122"/>
                <a:cs typeface="Calibri" pitchFamily="34" charset="-120"/>
              </a:rPr>
              <a:t>train.py aborts the build and exports nothing below this floor</a:t>
            </a:r>
            <a:endParaRPr lang="en-US" sz="980" dirty="0"/>
          </a:p>
        </p:txBody>
      </p:sp>
      <p:sp>
        <p:nvSpPr>
          <p:cNvPr id="9" name="Shape 7"/>
          <p:cNvSpPr/>
          <p:nvPr/>
        </p:nvSpPr>
        <p:spPr>
          <a:xfrm>
            <a:off x="4322978" y="1828800"/>
            <a:ext cx="3545738" cy="1965960"/>
          </a:xfrm>
          <a:prstGeom prst="roundRect">
            <a:avLst>
              <a:gd name="adj" fmla="val 3721"/>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0" name="Text 8"/>
          <p:cNvSpPr/>
          <p:nvPr/>
        </p:nvSpPr>
        <p:spPr>
          <a:xfrm>
            <a:off x="4551578" y="2011680"/>
            <a:ext cx="3088538"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89.4%</a:t>
            </a:r>
            <a:endParaRPr lang="en-US" sz="3400" dirty="0"/>
          </a:p>
        </p:txBody>
      </p:sp>
      <p:sp>
        <p:nvSpPr>
          <p:cNvPr id="11" name="Text 9"/>
          <p:cNvSpPr/>
          <p:nvPr/>
        </p:nvSpPr>
        <p:spPr>
          <a:xfrm>
            <a:off x="4551578" y="2651760"/>
            <a:ext cx="3088538" cy="365760"/>
          </a:xfrm>
          <a:prstGeom prst="rect">
            <a:avLst/>
          </a:prstGeom>
          <a:noFill/>
          <a:ln/>
        </p:spPr>
        <p:txBody>
          <a:bodyPr wrap="square" lIns="0" tIns="0" rIns="0" bIns="0" rtlCol="0" anchor="ctr"/>
          <a:lstStyle/>
          <a:p>
            <a:pPr indent="0" marL="0">
              <a:buNone/>
            </a:pPr>
            <a:r>
              <a:rPr lang="en-US" sz="1250" b="1" dirty="0">
                <a:solidFill>
                  <a:srgbClr val="1A1F3B"/>
                </a:solidFill>
                <a:latin typeface="Calibri" pitchFamily="34" charset="0"/>
                <a:ea typeface="Calibri" pitchFamily="34" charset="-122"/>
                <a:cs typeface="Calibri" pitchFamily="34" charset="-120"/>
              </a:rPr>
              <a:t>Holdout accuracy (this model)</a:t>
            </a:r>
            <a:endParaRPr lang="en-US" sz="1250" dirty="0"/>
          </a:p>
        </p:txBody>
      </p:sp>
      <p:sp>
        <p:nvSpPr>
          <p:cNvPr id="12" name="Text 10"/>
          <p:cNvSpPr/>
          <p:nvPr/>
        </p:nvSpPr>
        <p:spPr>
          <a:xfrm>
            <a:off x="4551578" y="3017520"/>
            <a:ext cx="3088538" cy="685800"/>
          </a:xfrm>
          <a:prstGeom prst="rect">
            <a:avLst/>
          </a:prstGeom>
          <a:noFill/>
          <a:ln/>
        </p:spPr>
        <p:txBody>
          <a:bodyPr wrap="square" lIns="0" tIns="0" rIns="0" bIns="0" rtlCol="0" anchor="ctr"/>
          <a:lstStyle/>
          <a:p>
            <a:pPr indent="0" marL="0">
              <a:buNone/>
            </a:pPr>
            <a:r>
              <a:rPr lang="en-US" sz="980" dirty="0">
                <a:solidFill>
                  <a:srgbClr val="5C6B8A"/>
                </a:solidFill>
                <a:latin typeface="Calibri" pitchFamily="34" charset="0"/>
                <a:ea typeface="Calibri" pitchFamily="34" charset="-122"/>
                <a:cs typeface="Calibri" pitchFamily="34" charset="-120"/>
              </a:rPr>
              <a:t>semantic_holdout_2.csv, 341 rows — recorded in models/manifest.json</a:t>
            </a:r>
            <a:endParaRPr lang="en-US" sz="980" dirty="0"/>
          </a:p>
        </p:txBody>
      </p:sp>
      <p:sp>
        <p:nvSpPr>
          <p:cNvPr id="13" name="Shape 11"/>
          <p:cNvSpPr/>
          <p:nvPr/>
        </p:nvSpPr>
        <p:spPr>
          <a:xfrm>
            <a:off x="8143037" y="1828800"/>
            <a:ext cx="3545738" cy="1965960"/>
          </a:xfrm>
          <a:prstGeom prst="roundRect">
            <a:avLst>
              <a:gd name="adj" fmla="val 3721"/>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4" name="Text 12"/>
          <p:cNvSpPr/>
          <p:nvPr/>
        </p:nvSpPr>
        <p:spPr>
          <a:xfrm>
            <a:off x="8371637" y="2011680"/>
            <a:ext cx="3088538"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66 / 100</a:t>
            </a:r>
            <a:endParaRPr lang="en-US" sz="3400" dirty="0"/>
          </a:p>
        </p:txBody>
      </p:sp>
      <p:sp>
        <p:nvSpPr>
          <p:cNvPr id="15" name="Text 13"/>
          <p:cNvSpPr/>
          <p:nvPr/>
        </p:nvSpPr>
        <p:spPr>
          <a:xfrm>
            <a:off x="8371637" y="2651760"/>
            <a:ext cx="3088538" cy="365760"/>
          </a:xfrm>
          <a:prstGeom prst="rect">
            <a:avLst/>
          </a:prstGeom>
          <a:noFill/>
          <a:ln/>
        </p:spPr>
        <p:txBody>
          <a:bodyPr wrap="square" lIns="0" tIns="0" rIns="0" bIns="0" rtlCol="0" anchor="ctr"/>
          <a:lstStyle/>
          <a:p>
            <a:pPr indent="0" marL="0">
              <a:buNone/>
            </a:pPr>
            <a:r>
              <a:rPr lang="en-US" sz="1250" b="1" dirty="0">
                <a:solidFill>
                  <a:srgbClr val="1A1F3B"/>
                </a:solidFill>
                <a:latin typeface="Calibri" pitchFamily="34" charset="0"/>
                <a:ea typeface="Calibri" pitchFamily="34" charset="-122"/>
                <a:cs typeface="Calibri" pitchFamily="34" charset="-120"/>
              </a:rPr>
              <a:t>Historical baseline</a:t>
            </a:r>
            <a:endParaRPr lang="en-US" sz="1250" dirty="0"/>
          </a:p>
        </p:txBody>
      </p:sp>
      <p:sp>
        <p:nvSpPr>
          <p:cNvPr id="16" name="Text 14"/>
          <p:cNvSpPr/>
          <p:nvPr/>
        </p:nvSpPr>
        <p:spPr>
          <a:xfrm>
            <a:off x="8371637" y="3017520"/>
            <a:ext cx="3088538" cy="685800"/>
          </a:xfrm>
          <a:prstGeom prst="rect">
            <a:avLst/>
          </a:prstGeom>
          <a:noFill/>
          <a:ln/>
        </p:spPr>
        <p:txBody>
          <a:bodyPr wrap="square" lIns="0" tIns="0" rIns="0" bIns="0" rtlCol="0" anchor="ctr"/>
          <a:lstStyle/>
          <a:p>
            <a:pPr indent="0" marL="0">
              <a:buNone/>
            </a:pPr>
            <a:r>
              <a:rPr lang="en-US" sz="980" dirty="0">
                <a:solidFill>
                  <a:srgbClr val="5C6B8A"/>
                </a:solidFill>
                <a:latin typeface="Calibri" pitchFamily="34" charset="0"/>
                <a:ea typeface="Calibri" pitchFamily="34" charset="-122"/>
                <a:cs typeface="Calibri" pitchFamily="34" charset="-120"/>
              </a:rPr>
              <a:t>keyword + TF-IDF only, before any semantic rescue existed (legacy 100-utterance holdout)</a:t>
            </a:r>
            <a:endParaRPr lang="en-US" sz="980" dirty="0"/>
          </a:p>
        </p:txBody>
      </p:sp>
      <p:sp>
        <p:nvSpPr>
          <p:cNvPr id="17" name="Shape 15"/>
          <p:cNvSpPr/>
          <p:nvPr/>
        </p:nvSpPr>
        <p:spPr>
          <a:xfrm>
            <a:off x="502920" y="4069080"/>
            <a:ext cx="11185855" cy="1051560"/>
          </a:xfrm>
          <a:prstGeom prst="roundRect">
            <a:avLst>
              <a:gd name="adj" fmla="val 6957"/>
            </a:avLst>
          </a:prstGeom>
          <a:solidFill>
            <a:srgbClr val="F8E9E8"/>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8" name="Text 16"/>
          <p:cNvSpPr/>
          <p:nvPr/>
        </p:nvSpPr>
        <p:spPr>
          <a:xfrm>
            <a:off x="777240" y="4206240"/>
            <a:ext cx="10637215" cy="822960"/>
          </a:xfrm>
          <a:prstGeom prst="rect">
            <a:avLst/>
          </a:prstGeom>
          <a:noFill/>
          <a:ln/>
        </p:spPr>
        <p:txBody>
          <a:bodyPr wrap="square" lIns="0" tIns="0" rIns="0" bIns="0" rtlCol="0" anchor="ctr"/>
          <a:lstStyle/>
          <a:p>
            <a:pPr indent="0" marL="0">
              <a:buNone/>
            </a:pPr>
            <a:r>
              <a:rPr lang="en-US" sz="1150" b="1" dirty="0">
                <a:solidFill>
                  <a:srgbClr val="A32B26"/>
                </a:solidFill>
                <a:latin typeface="Calibri" pitchFamily="34" charset="0"/>
                <a:ea typeface="Calibri" pitchFamily="34" charset="-122"/>
                <a:cs typeface="Calibri" pitchFamily="34" charset="-120"/>
              </a:rPr>
              <a:t>Known architectural limitation: </a:t>
            </a:r>
            <a:pPr indent="0" marL="0">
              <a:buNone/>
            </a:pPr>
            <a:r>
              <a:rPr lang="en-US" sz="1150" dirty="0">
                <a:solidFill>
                  <a:srgbClr val="1A1F3B"/>
                </a:solidFill>
                <a:latin typeface="Calibri" pitchFamily="34" charset="0"/>
                <a:ea typeface="Calibri" pitchFamily="34" charset="-122"/>
                <a:cs typeface="Calibri" pitchFamily="34" charset="-120"/>
              </a:rPr>
              <a:t>TF-IDF is a bag-of-words model. A word that never appeared in training data is invisible to it, regardless of threshold tuning — it will not generalise to novel phrasings of a command it has never seen written that way.</a:t>
            </a:r>
            <a:endParaRPr lang="en-US" sz="1150" dirty="0"/>
          </a:p>
        </p:txBody>
      </p:sp>
      <p:sp>
        <p:nvSpPr>
          <p:cNvPr id="19" name="Shape 17"/>
          <p:cNvSpPr/>
          <p:nvPr/>
        </p:nvSpPr>
        <p:spPr>
          <a:xfrm>
            <a:off x="502920" y="5257800"/>
            <a:ext cx="11185855" cy="1234440"/>
          </a:xfrm>
          <a:prstGeom prst="roundRect">
            <a:avLst>
              <a:gd name="adj" fmla="val 5926"/>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20" name="Text 18"/>
          <p:cNvSpPr/>
          <p:nvPr/>
        </p:nvSpPr>
        <p:spPr>
          <a:xfrm>
            <a:off x="777240" y="5376672"/>
            <a:ext cx="10637215"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Reconciling the numbers, honestly</a:t>
            </a:r>
            <a:endParaRPr lang="en-US" sz="1300" dirty="0"/>
          </a:p>
        </p:txBody>
      </p:sp>
      <p:sp>
        <p:nvSpPr>
          <p:cNvPr id="21" name="Text 19"/>
          <p:cNvSpPr/>
          <p:nvPr/>
        </p:nvSpPr>
        <p:spPr>
          <a:xfrm>
            <a:off x="777240" y="5669280"/>
            <a:ext cx="10637215" cy="777240"/>
          </a:xfrm>
          <a:prstGeom prst="rect">
            <a:avLst/>
          </a:prstGeom>
          <a:noFill/>
          <a:ln/>
        </p:spPr>
        <p:txBody>
          <a:bodyPr wrap="square" lIns="0" tIns="0" rIns="0" bIns="0" rtlCol="0" anchor="ctr"/>
          <a:lstStyle/>
          <a:p>
            <a:pPr indent="0" marL="0">
              <a:buNone/>
            </a:pPr>
            <a:r>
              <a:rPr lang="en-US" sz="1050" dirty="0">
                <a:solidFill>
                  <a:srgbClr val="1A1F3B"/>
                </a:solidFill>
                <a:latin typeface="Calibri" pitchFamily="34" charset="0"/>
                <a:ea typeface="Calibri" pitchFamily="34" charset="-122"/>
                <a:cs typeface="Calibri" pitchFamily="34" charset="-120"/>
              </a:rPr>
              <a:t>The 66/100 figure and the 89.4% figure come from two different benchmarks (a 100-row legacy holdout vs. the current 341-row set) measured at different points in the project — not the same number reported inconsistently. Recommendation: consolidate onto one benchmark before quoting a single accuracy figure externally.</a:t>
            </a:r>
            <a:endParaRPr lang="en-US" sz="1050" dirty="0"/>
          </a:p>
        </p:txBody>
      </p:sp>
      <p:sp>
        <p:nvSpPr>
          <p:cNvPr id="22" name="Text 20"/>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03 · DATA &amp; ACCURACY</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Test Coverage &amp; Accuracy Gates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7158947" cy="2651760"/>
        </p:xfrm>
        <a:graphic>
          <a:graphicData uri="http://schemas.openxmlformats.org/drawingml/2006/table">
            <a:tbl>
              <a:tblPr/>
              <a:tblGrid>
                <a:gridCol w="2290863"/>
                <a:gridCol w="1288611"/>
                <a:gridCol w="3579474"/>
              </a:tblGrid>
              <a:tr h="4419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Assertions</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Pins</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1E2761"/>
                    </a:solidFill>
                  </a:tcPr>
                </a:tc>
              </a:tr>
              <a:tr h="44196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test_nlu.py</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core engine + entity extraction correctness</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4196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test_sprint1_hardening.py</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PII removal, TTLs, slot limits, keyword confidence, negation</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4196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test_sprint2_hardening.py</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schema-driven threshold config, session/context handling, yes/no idioms</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4196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test_sprint3_hardening.py</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interrupt demotion, fuzzy entity-match gate, gate-is-real safety check</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r h="441960">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test_holdout.py</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c>
                  <a:txBody>
                    <a:bodyPr/>
                    <a:lstStyle/>
                    <a:p>
                      <a:pPr indent="0" marL="0">
                        <a:buNone/>
                      </a:pPr>
                      <a:r>
                        <a:rPr lang="en-US" sz="1100" dirty="0">
                          <a:solidFill>
                            <a:srgbClr val="1A1F3B"/>
                          </a:solidFill>
                          <a:latin typeface="Calibri" pitchFamily="34" charset="0"/>
                          <a:ea typeface="Calibri" pitchFamily="34" charset="-122"/>
                          <a:cs typeface="Calibri" pitchFamily="34" charset="-120"/>
                        </a:rPr>
                        <a:t>keyword + TF-IDF classification accuracy gate</a:t>
                      </a:r>
                      <a:endParaRPr lang="en-US" sz="1100" dirty="0">
                        <a:latin typeface="Calibri" charset="0"/>
                        <a:ea typeface="Calibri" charset="0"/>
                        <a:cs typeface="Calibri" charset="0"/>
                      </a:endParaRPr>
                    </a:p>
                  </a:txBody>
                  <a:tcPr marL="91440" marR="91440" marT="45720" marB="45720">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4434840"/>
            <a:ext cx="7158947" cy="365760"/>
          </a:xfrm>
          <a:prstGeom prst="rect">
            <a:avLst/>
          </a:prstGeom>
          <a:noFill/>
          <a:ln/>
        </p:spPr>
        <p:txBody>
          <a:bodyPr wrap="square" lIns="0" tIns="0" rIns="0" bIns="0" rtlCol="0" anchor="ctr"/>
          <a:lstStyle/>
          <a:p>
            <a:pPr indent="0" marL="0">
              <a:buNone/>
            </a:pPr>
            <a:r>
              <a:rPr lang="en-US" sz="1050" i="1" dirty="0">
                <a:solidFill>
                  <a:srgbClr val="5C6B8A"/>
                </a:solidFill>
                <a:latin typeface="Calibri" pitchFamily="34" charset="0"/>
                <a:ea typeface="Calibri" pitchFamily="34" charset="-122"/>
                <a:cs typeface="Calibri" pitchFamily="34" charset="-120"/>
              </a:rPr>
              <a:t>150 automated assertions total across 5 test files (covers the shared engine; some pin behaviour outside this classifier too).</a:t>
            </a:r>
            <a:endParaRPr lang="en-US" sz="1050" dirty="0"/>
          </a:p>
        </p:txBody>
      </p:sp>
      <p:sp>
        <p:nvSpPr>
          <p:cNvPr id="6" name="Shape 3"/>
          <p:cNvSpPr/>
          <p:nvPr/>
        </p:nvSpPr>
        <p:spPr>
          <a:xfrm>
            <a:off x="7936187" y="1645920"/>
            <a:ext cx="3752588" cy="3063240"/>
          </a:xfrm>
          <a:prstGeom prst="roundRect">
            <a:avLst>
              <a:gd name="adj" fmla="val 2388"/>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7" name="Text 4"/>
          <p:cNvSpPr/>
          <p:nvPr/>
        </p:nvSpPr>
        <p:spPr>
          <a:xfrm>
            <a:off x="8137355" y="1810512"/>
            <a:ext cx="3350252"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dual holdout gate</a:t>
            </a:r>
            <a:endParaRPr lang="en-US" sz="1300" dirty="0"/>
          </a:p>
        </p:txBody>
      </p:sp>
      <p:sp>
        <p:nvSpPr>
          <p:cNvPr id="8" name="Text 5"/>
          <p:cNvSpPr/>
          <p:nvPr/>
        </p:nvSpPr>
        <p:spPr>
          <a:xfrm>
            <a:off x="8137355" y="2121408"/>
            <a:ext cx="3350252" cy="274320"/>
          </a:xfrm>
          <a:prstGeom prst="rect">
            <a:avLst/>
          </a:prstGeom>
          <a:noFill/>
          <a:ln/>
        </p:spPr>
        <p:txBody>
          <a:bodyPr wrap="square" lIns="0" tIns="0" rIns="0" bIns="0" rtlCol="0" anchor="ctr"/>
          <a:lstStyle/>
          <a:p>
            <a:pPr indent="0" marL="0">
              <a:buNone/>
            </a:pPr>
            <a:r>
              <a:rPr lang="en-US" sz="1100" dirty="0">
                <a:solidFill>
                  <a:srgbClr val="1A1F3B"/>
                </a:solidFill>
                <a:latin typeface="Calibri" pitchFamily="34" charset="0"/>
                <a:ea typeface="Calibri" pitchFamily="34" charset="-122"/>
                <a:cs typeface="Calibri" pitchFamily="34" charset="-120"/>
              </a:rPr>
              <a:t>test_holdout.py --strict must clear BOTH:</a:t>
            </a:r>
            <a:endParaRPr lang="en-US" sz="1100" dirty="0"/>
          </a:p>
        </p:txBody>
      </p:sp>
      <p:sp>
        <p:nvSpPr>
          <p:cNvPr id="9" name="Text 6"/>
          <p:cNvSpPr/>
          <p:nvPr/>
        </p:nvSpPr>
        <p:spPr>
          <a:xfrm>
            <a:off x="8137355" y="2395728"/>
            <a:ext cx="3350252"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 Total correct ≥ floor</a:t>
            </a:r>
            <a:endParaRPr lang="en-US" sz="1150" dirty="0"/>
          </a:p>
          <a:p>
            <a:pPr indent="0" marL="0">
              <a:buNone/>
            </a:pPr>
            <a:r>
              <a:rPr lang="en-US" sz="1150" b="1" dirty="0">
                <a:solidFill>
                  <a:srgbClr val="1E2761"/>
                </a:solidFill>
                <a:latin typeface="Calibri" pitchFamily="34" charset="0"/>
                <a:ea typeface="Calibri" pitchFamily="34" charset="-122"/>
                <a:cs typeface="Calibri" pitchFamily="34" charset="-120"/>
              </a:rPr>
              <a:t>• Wrong-action misses ≤ ceiling</a:t>
            </a:r>
            <a:endParaRPr lang="en-US" sz="1150" dirty="0"/>
          </a:p>
        </p:txBody>
      </p:sp>
      <p:sp>
        <p:nvSpPr>
          <p:cNvPr id="10" name="Text 7"/>
          <p:cNvSpPr/>
          <p:nvPr/>
        </p:nvSpPr>
        <p:spPr>
          <a:xfrm>
            <a:off x="8137355" y="3017520"/>
            <a:ext cx="3350252" cy="548640"/>
          </a:xfrm>
          <a:prstGeom prst="rect">
            <a:avLst/>
          </a:prstGeom>
          <a:noFill/>
          <a:ln/>
        </p:spPr>
        <p:txBody>
          <a:bodyPr wrap="square" lIns="0" tIns="0" rIns="0" bIns="0" rtlCol="0" anchor="ctr"/>
          <a:lstStyle/>
          <a:p>
            <a:pPr indent="0" marL="0">
              <a:buNone/>
            </a:pPr>
            <a:r>
              <a:rPr lang="en-US" sz="1050" dirty="0">
                <a:solidFill>
                  <a:srgbClr val="1A1F3B"/>
                </a:solidFill>
                <a:latin typeface="Calibri" pitchFamily="34" charset="0"/>
                <a:ea typeface="Calibri" pitchFamily="34" charset="-122"/>
                <a:cs typeface="Calibri" pitchFamily="34" charset="-120"/>
              </a:rPr>
              <a:t>A wrong-action miss (confidently fires the wrong command) is penalised harder than a safe GenAI fallback.</a:t>
            </a:r>
            <a:endParaRPr lang="en-US" sz="1050" dirty="0"/>
          </a:p>
        </p:txBody>
      </p:sp>
      <p:sp>
        <p:nvSpPr>
          <p:cNvPr id="11" name="Text 8"/>
          <p:cNvSpPr/>
          <p:nvPr/>
        </p:nvSpPr>
        <p:spPr>
          <a:xfrm>
            <a:off x="8137355" y="3611880"/>
            <a:ext cx="3350252" cy="960120"/>
          </a:xfrm>
          <a:prstGeom prst="rect">
            <a:avLst/>
          </a:prstGeom>
          <a:noFill/>
          <a:ln/>
        </p:spPr>
        <p:txBody>
          <a:bodyPr wrap="square" lIns="0" tIns="0" rIns="0" bIns="0" rtlCol="0" anchor="ctr"/>
          <a:lstStyle/>
          <a:p>
            <a:pPr indent="0" marL="0">
              <a:buNone/>
            </a:pPr>
            <a:r>
              <a:rPr lang="en-US" sz="1050" i="1" dirty="0">
                <a:solidFill>
                  <a:srgbClr val="5C6B8A"/>
                </a:solidFill>
                <a:latin typeface="Calibri" pitchFamily="34" charset="0"/>
                <a:ea typeface="Calibri" pitchFamily="34" charset="-122"/>
                <a:cs typeface="Calibri" pitchFamily="34" charset="-120"/>
              </a:rPr>
              <a:t>Gate is provably real: test_sprint3_hardening.py sets an impossible floor (99/100) and asserts the gate FAILS — proving it isn't a no-op.</a:t>
            </a:r>
            <a:endParaRPr lang="en-US" sz="1050" dirty="0"/>
          </a:p>
        </p:txBody>
      </p:sp>
      <p:sp>
        <p:nvSpPr>
          <p:cNvPr id="12" name="Shape 9"/>
          <p:cNvSpPr/>
          <p:nvPr/>
        </p:nvSpPr>
        <p:spPr>
          <a:xfrm>
            <a:off x="502920" y="4892040"/>
            <a:ext cx="11185855" cy="1234440"/>
          </a:xfrm>
          <a:prstGeom prst="roundRect">
            <a:avLst>
              <a:gd name="adj" fmla="val 5926"/>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3" name="Text 10"/>
          <p:cNvSpPr/>
          <p:nvPr/>
        </p:nvSpPr>
        <p:spPr>
          <a:xfrm>
            <a:off x="777240" y="5010912"/>
            <a:ext cx="10637215" cy="274320"/>
          </a:xfrm>
          <a:prstGeom prst="rect">
            <a:avLst/>
          </a:prstGeom>
          <a:noFill/>
          <a:ln/>
        </p:spPr>
        <p:txBody>
          <a:bodyPr wrap="square" lIns="0" tIns="0" rIns="0" bIns="0" rtlCol="0" anchor="ctr"/>
          <a:lstStyle/>
          <a:p>
            <a:pPr indent="0" marL="0">
              <a:buNone/>
            </a:pPr>
            <a:r>
              <a:rPr lang="en-US" sz="1250" b="1" dirty="0">
                <a:solidFill>
                  <a:srgbClr val="A32B26"/>
                </a:solidFill>
                <a:latin typeface="Calibri" pitchFamily="34" charset="0"/>
                <a:ea typeface="Calibri" pitchFamily="34" charset="-122"/>
                <a:cs typeface="Calibri" pitchFamily="34" charset="-120"/>
              </a:rPr>
              <a:t>What's still missing vs. a real CI/CD pipeline</a:t>
            </a:r>
            <a:endParaRPr lang="en-US" sz="1250" dirty="0"/>
          </a:p>
        </p:txBody>
      </p:sp>
      <p:sp>
        <p:nvSpPr>
          <p:cNvPr id="14" name="Text 11"/>
          <p:cNvSpPr/>
          <p:nvPr/>
        </p:nvSpPr>
        <p:spPr>
          <a:xfrm>
            <a:off x="777240" y="5303520"/>
            <a:ext cx="10637215" cy="640080"/>
          </a:xfrm>
          <a:prstGeom prst="rect">
            <a:avLst/>
          </a:prstGeom>
          <a:noFill/>
          <a:ln/>
        </p:spPr>
        <p:txBody>
          <a:bodyPr wrap="square" lIns="0" tIns="0" rIns="0" bIns="0" rtlCol="0" anchor="ctr"/>
          <a:lstStyle/>
          <a:p>
            <a:pPr indent="0" marL="0">
              <a:buNone/>
            </a:pPr>
            <a:r>
              <a:rPr lang="en-US" sz="1100" dirty="0">
                <a:solidFill>
                  <a:srgbClr val="1A1F3B"/>
                </a:solidFill>
                <a:latin typeface="Calibri" pitchFamily="34" charset="0"/>
                <a:ea typeface="Calibri" pitchFamily="34" charset="-122"/>
                <a:cs typeface="Calibri" pitchFamily="34" charset="-120"/>
              </a:rPr>
              <a:t>All of this runs manually today. There is no CI workflow triggered on data commits, no automated blue/green model rollout, and no dashboard tracking gate results over time — see Roadmap.</a:t>
            </a:r>
            <a:endParaRPr lang="en-US" sz="1100" dirty="0"/>
          </a:p>
        </p:txBody>
      </p:sp>
      <p:sp>
        <p:nvSpPr>
          <p:cNvPr id="15" name="Text 12"/>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04 · MOBILE DEPLOYMENT</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Android vs. iOS Deployment</a:t>
            </a:r>
            <a:endParaRPr lang="en-US" sz="3000" dirty="0"/>
          </a:p>
        </p:txBody>
      </p:sp>
      <p:sp>
        <p:nvSpPr>
          <p:cNvPr id="4" name="Shape 2"/>
          <p:cNvSpPr/>
          <p:nvPr/>
        </p:nvSpPr>
        <p:spPr>
          <a:xfrm>
            <a:off x="502920" y="1645920"/>
            <a:ext cx="5410048" cy="3520440"/>
          </a:xfrm>
          <a:prstGeom prst="roundRect">
            <a:avLst>
              <a:gd name="adj" fmla="val 2078"/>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Text 3"/>
          <p:cNvSpPr/>
          <p:nvPr/>
        </p:nvSpPr>
        <p:spPr>
          <a:xfrm>
            <a:off x="731520" y="1828800"/>
            <a:ext cx="4952848"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Android — ONNX Runtime Mobile</a:t>
            </a:r>
            <a:endParaRPr lang="en-US" sz="1450" dirty="0"/>
          </a:p>
        </p:txBody>
      </p:sp>
      <p:sp>
        <p:nvSpPr>
          <p:cNvPr id="6" name="Text 4"/>
          <p:cNvSpPr/>
          <p:nvPr/>
        </p:nvSpPr>
        <p:spPr>
          <a:xfrm>
            <a:off x="731520" y="2240280"/>
            <a:ext cx="4952848" cy="530352"/>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intent_model.onnx + intent_labels bundled in app/src/main/assets/nlu/</a:t>
            </a:r>
            <a:endParaRPr lang="en-US" sz="1100" dirty="0"/>
          </a:p>
        </p:txBody>
      </p:sp>
      <p:sp>
        <p:nvSpPr>
          <p:cNvPr id="7" name="Text 5"/>
          <p:cNvSpPr/>
          <p:nvPr/>
        </p:nvSpPr>
        <p:spPr>
          <a:xfrm>
            <a:off x="731520" y="2788920"/>
            <a:ext cx="4952848" cy="530352"/>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NLUEngine.kt mirrors the Python keyword + TF-IDF cascade</a:t>
            </a:r>
            <a:endParaRPr lang="en-US" sz="1100" dirty="0"/>
          </a:p>
        </p:txBody>
      </p:sp>
      <p:sp>
        <p:nvSpPr>
          <p:cNvPr id="8" name="Text 6"/>
          <p:cNvSpPr/>
          <p:nvPr/>
        </p:nvSpPr>
        <p:spPr>
          <a:xfrm>
            <a:off x="731520" y="3337560"/>
            <a:ext cx="4952848" cy="530352"/>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ONNX Runtime Mobile runs the TF-IDF graph directly — the vectorizer is baked into the graph, no separate tokenizer code needed</a:t>
            </a:r>
            <a:endParaRPr lang="en-US" sz="1100" dirty="0"/>
          </a:p>
        </p:txBody>
      </p:sp>
      <p:sp>
        <p:nvSpPr>
          <p:cNvPr id="9" name="Text 7"/>
          <p:cNvSpPr/>
          <p:nvPr/>
        </p:nvSpPr>
        <p:spPr>
          <a:xfrm>
            <a:off x="731520" y="3886200"/>
            <a:ext cx="4952848" cy="530352"/>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Temperature-scaled softmax applied client-side using the exported T constant</a:t>
            </a:r>
            <a:endParaRPr lang="en-US" sz="1100" dirty="0"/>
          </a:p>
        </p:txBody>
      </p:sp>
      <p:sp>
        <p:nvSpPr>
          <p:cNvPr id="10" name="Text 8"/>
          <p:cNvSpPr/>
          <p:nvPr/>
        </p:nvSpPr>
        <p:spPr>
          <a:xfrm>
            <a:off x="731520" y="4434840"/>
            <a:ext cx="4952848" cy="530352"/>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Single implementation — no dual-inference risk on this platform</a:t>
            </a:r>
            <a:endParaRPr lang="en-US" sz="1100" dirty="0"/>
          </a:p>
        </p:txBody>
      </p:sp>
      <p:sp>
        <p:nvSpPr>
          <p:cNvPr id="11" name="Shape 9"/>
          <p:cNvSpPr/>
          <p:nvPr/>
        </p:nvSpPr>
        <p:spPr>
          <a:xfrm>
            <a:off x="6278728" y="1645920"/>
            <a:ext cx="5410048" cy="3520440"/>
          </a:xfrm>
          <a:prstGeom prst="roundRect">
            <a:avLst>
              <a:gd name="adj" fmla="val 2078"/>
            </a:avLst>
          </a:prstGeom>
          <a:solidFill>
            <a:srgbClr val="F8E9E8"/>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2" name="Text 10"/>
          <p:cNvSpPr/>
          <p:nvPr/>
        </p:nvSpPr>
        <p:spPr>
          <a:xfrm>
            <a:off x="6507328" y="1828800"/>
            <a:ext cx="4952848" cy="320040"/>
          </a:xfrm>
          <a:prstGeom prst="rect">
            <a:avLst/>
          </a:prstGeom>
          <a:noFill/>
          <a:ln/>
        </p:spPr>
        <p:txBody>
          <a:bodyPr wrap="square" lIns="0" tIns="0" rIns="0" bIns="0" rtlCol="0" anchor="ctr"/>
          <a:lstStyle/>
          <a:p>
            <a:pPr indent="0" marL="0">
              <a:buNone/>
            </a:pPr>
            <a:r>
              <a:rPr lang="en-US" sz="1450" b="1" dirty="0">
                <a:solidFill>
                  <a:srgbClr val="A32B26"/>
                </a:solidFill>
                <a:latin typeface="Calibri" pitchFamily="34" charset="0"/>
                <a:ea typeface="Calibri" pitchFamily="34" charset="-122"/>
                <a:cs typeface="Calibri" pitchFamily="34" charset="-120"/>
              </a:rPr>
              <a:t>iOS — two candidate paths (open risk)</a:t>
            </a:r>
            <a:endParaRPr lang="en-US" sz="1450" dirty="0"/>
          </a:p>
        </p:txBody>
      </p:sp>
      <p:sp>
        <p:nvSpPr>
          <p:cNvPr id="13" name="Text 11"/>
          <p:cNvSpPr/>
          <p:nvPr/>
        </p:nvSpPr>
        <p:spPr>
          <a:xfrm>
            <a:off x="6507328" y="2240280"/>
            <a:ext cx="4952848" cy="640080"/>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Option A: Core ML IntentClassifier.mlpackage, converted via coremltools</a:t>
            </a:r>
            <a:endParaRPr lang="en-US" sz="1100" dirty="0"/>
          </a:p>
        </p:txBody>
      </p:sp>
      <p:sp>
        <p:nvSpPr>
          <p:cNvPr id="14" name="Text 12"/>
          <p:cNvSpPr/>
          <p:nvPr/>
        </p:nvSpPr>
        <p:spPr>
          <a:xfrm>
            <a:off x="6507328" y="2898648"/>
            <a:ext cx="4952848" cy="640080"/>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Option B: hand-rolled Swift scorer (vocab lookup → IDF scaling → dot product → softmax) driven by intent_classifier_weights.json</a:t>
            </a:r>
            <a:endParaRPr lang="en-US" sz="1100" dirty="0"/>
          </a:p>
        </p:txBody>
      </p:sp>
      <p:sp>
        <p:nvSpPr>
          <p:cNvPr id="15" name="Text 13"/>
          <p:cNvSpPr/>
          <p:nvPr/>
        </p:nvSpPr>
        <p:spPr>
          <a:xfrm>
            <a:off x="6507328" y="3557016"/>
            <a:ext cx="4952848" cy="640080"/>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Architecture review flags this as a P0 risk — two independent implementations of the same algorithm can silently diverge in accuracy</a:t>
            </a:r>
            <a:endParaRPr lang="en-US" sz="1100" dirty="0"/>
          </a:p>
        </p:txBody>
      </p:sp>
      <p:sp>
        <p:nvSpPr>
          <p:cNvPr id="16" name="Text 14"/>
          <p:cNvSpPr/>
          <p:nvPr/>
        </p:nvSpPr>
        <p:spPr>
          <a:xfrm>
            <a:off x="6507328" y="4215384"/>
            <a:ext cx="4952848" cy="640080"/>
          </a:xfrm>
          <a:prstGeom prst="rect">
            <a:avLst/>
          </a:prstGeom>
          <a:noFill/>
          <a:ln/>
        </p:spPr>
        <p:txBody>
          <a:bodyPr wrap="square" lIns="0" tIns="0" rIns="0" bIns="0" rtlCol="0" anchor="ctr"/>
          <a:lstStyle/>
          <a:p>
            <a:pPr marL="342900" indent="-342900">
              <a:buSzPct val="100000"/>
              <a:buChar char="•"/>
            </a:pPr>
            <a:r>
              <a:rPr lang="en-US" sz="1100" dirty="0">
                <a:solidFill>
                  <a:srgbClr val="1A1F3B"/>
                </a:solidFill>
                <a:latin typeface="Calibri" pitchFamily="34" charset="0"/>
                <a:ea typeface="Calibri" pitchFamily="34" charset="-122"/>
                <a:cs typeface="Calibri" pitchFamily="34" charset="-120"/>
              </a:rPr>
              <a:t>test_ios_conformance.py exists to check agreement, but the long-term fix is to standardize on one path (Core ML preferred)</a:t>
            </a:r>
            <a:endParaRPr lang="en-US" sz="1100" dirty="0"/>
          </a:p>
        </p:txBody>
      </p:sp>
      <p:sp>
        <p:nvSpPr>
          <p:cNvPr id="17" name="Shape 15"/>
          <p:cNvSpPr/>
          <p:nvPr/>
        </p:nvSpPr>
        <p:spPr>
          <a:xfrm>
            <a:off x="502920" y="5349240"/>
            <a:ext cx="11185855" cy="960120"/>
          </a:xfrm>
          <a:prstGeom prst="roundRect">
            <a:avLst>
              <a:gd name="adj" fmla="val 7619"/>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8" name="Text 16"/>
          <p:cNvSpPr/>
          <p:nvPr/>
        </p:nvSpPr>
        <p:spPr>
          <a:xfrm>
            <a:off x="777240" y="5486400"/>
            <a:ext cx="10637215" cy="7315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Scope note: </a:t>
            </a:r>
            <a:pPr indent="0" marL="0">
              <a:buNone/>
            </a:pPr>
            <a:r>
              <a:rPr lang="en-US" sz="1200" dirty="0">
                <a:solidFill>
                  <a:srgbClr val="1A1F3B"/>
                </a:solidFill>
                <a:latin typeface="Calibri" pitchFamily="34" charset="0"/>
                <a:ea typeface="Calibri" pitchFamily="34" charset="-122"/>
                <a:cs typeface="Calibri" pitchFamily="34" charset="-120"/>
              </a:rPr>
              <a:t>both platforms bundle only the keyword schema + TF-IDF artifacts for this phase of the rollout — no semantic encoder is part of the current app footprint.</a:t>
            </a:r>
            <a:endParaRPr lang="en-US" sz="1200" dirty="0"/>
          </a:p>
        </p:txBody>
      </p:sp>
      <p:sp>
        <p:nvSpPr>
          <p:cNvPr id="19" name="Text 17"/>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05 · PRODUCTION READINESS</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Honest Comparison vs. Dialogflow</a:t>
            </a:r>
            <a:endParaRPr lang="en-US" sz="3000" dirty="0"/>
          </a:p>
        </p:txBody>
      </p:sp>
      <p:sp>
        <p:nvSpPr>
          <p:cNvPr id="4" name="Shape 2"/>
          <p:cNvSpPr/>
          <p:nvPr/>
        </p:nvSpPr>
        <p:spPr>
          <a:xfrm>
            <a:off x="502920" y="1645920"/>
            <a:ext cx="3484778" cy="4297680"/>
          </a:xfrm>
          <a:prstGeom prst="roundRect">
            <a:avLst>
              <a:gd name="adj" fmla="val 2099"/>
            </a:avLst>
          </a:prstGeom>
          <a:solidFill>
            <a:srgbClr val="E7F3EC"/>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Text 3"/>
          <p:cNvSpPr/>
          <p:nvPr/>
        </p:nvSpPr>
        <p:spPr>
          <a:xfrm>
            <a:off x="685800" y="1810512"/>
            <a:ext cx="3119018" cy="502920"/>
          </a:xfrm>
          <a:prstGeom prst="rect">
            <a:avLst/>
          </a:prstGeom>
          <a:noFill/>
          <a:ln/>
        </p:spPr>
        <p:txBody>
          <a:bodyPr wrap="square" lIns="0" tIns="0" rIns="0" bIns="0" rtlCol="0" anchor="ctr"/>
          <a:lstStyle/>
          <a:p>
            <a:pPr indent="0" marL="0">
              <a:buNone/>
            </a:pPr>
            <a:r>
              <a:rPr lang="en-US" sz="1350" b="1" dirty="0">
                <a:solidFill>
                  <a:srgbClr val="1E7145"/>
                </a:solidFill>
                <a:latin typeface="Calibri" pitchFamily="34" charset="0"/>
                <a:ea typeface="Calibri" pitchFamily="34" charset="-122"/>
                <a:cs typeface="Calibri" pitchFamily="34" charset="-120"/>
              </a:rPr>
              <a:t>Matches Dialogflow</a:t>
            </a:r>
            <a:endParaRPr lang="en-US" sz="1350" dirty="0"/>
          </a:p>
        </p:txBody>
      </p:sp>
      <p:sp>
        <p:nvSpPr>
          <p:cNvPr id="6" name="Text 4"/>
          <p:cNvSpPr/>
          <p:nvPr/>
        </p:nvSpPr>
        <p:spPr>
          <a:xfrm>
            <a:off x="685800" y="2331720"/>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Intent classification</a:t>
            </a:r>
            <a:endParaRPr lang="en-US" sz="1080" dirty="0"/>
          </a:p>
        </p:txBody>
      </p:sp>
      <p:sp>
        <p:nvSpPr>
          <p:cNvPr id="7" name="Text 5"/>
          <p:cNvSpPr/>
          <p:nvPr/>
        </p:nvSpPr>
        <p:spPr>
          <a:xfrm>
            <a:off x="685800" y="3044952"/>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Slot filling &amp; back-reference</a:t>
            </a:r>
            <a:endParaRPr lang="en-US" sz="1080" dirty="0"/>
          </a:p>
        </p:txBody>
      </p:sp>
      <p:sp>
        <p:nvSpPr>
          <p:cNvPr id="8" name="Text 6"/>
          <p:cNvSpPr/>
          <p:nvPr/>
        </p:nvSpPr>
        <p:spPr>
          <a:xfrm>
            <a:off x="685800" y="3758184"/>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Entity extraction (datetime, enums)</a:t>
            </a:r>
            <a:endParaRPr lang="en-US" sz="1080" dirty="0"/>
          </a:p>
        </p:txBody>
      </p:sp>
      <p:sp>
        <p:nvSpPr>
          <p:cNvPr id="9" name="Text 7"/>
          <p:cNvSpPr/>
          <p:nvPr/>
        </p:nvSpPr>
        <p:spPr>
          <a:xfrm>
            <a:off x="685800" y="4471416"/>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Affirmative / negative context handling</a:t>
            </a:r>
            <a:endParaRPr lang="en-US" sz="1080" dirty="0"/>
          </a:p>
        </p:txBody>
      </p:sp>
      <p:sp>
        <p:nvSpPr>
          <p:cNvPr id="10" name="Text 8"/>
          <p:cNvSpPr/>
          <p:nvPr/>
        </p:nvSpPr>
        <p:spPr>
          <a:xfrm>
            <a:off x="685800" y="5184648"/>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Schema-driven configuration</a:t>
            </a:r>
            <a:endParaRPr lang="en-US" sz="1080" dirty="0"/>
          </a:p>
        </p:txBody>
      </p:sp>
      <p:sp>
        <p:nvSpPr>
          <p:cNvPr id="11" name="Shape 9"/>
          <p:cNvSpPr/>
          <p:nvPr/>
        </p:nvSpPr>
        <p:spPr>
          <a:xfrm>
            <a:off x="4353458" y="1645920"/>
            <a:ext cx="3484778" cy="4297680"/>
          </a:xfrm>
          <a:prstGeom prst="roundRect">
            <a:avLst>
              <a:gd name="adj" fmla="val 2099"/>
            </a:avLst>
          </a:prstGeom>
          <a:solidFill>
            <a:srgbClr val="EEF3FD"/>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2" name="Text 10"/>
          <p:cNvSpPr/>
          <p:nvPr/>
        </p:nvSpPr>
        <p:spPr>
          <a:xfrm>
            <a:off x="4536338" y="1810512"/>
            <a:ext cx="3119018"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Better than Dialogflow</a:t>
            </a:r>
            <a:endParaRPr lang="en-US" sz="1350" dirty="0"/>
          </a:p>
        </p:txBody>
      </p:sp>
      <p:sp>
        <p:nvSpPr>
          <p:cNvPr id="13" name="Text 11"/>
          <p:cNvSpPr/>
          <p:nvPr/>
        </p:nvSpPr>
        <p:spPr>
          <a:xfrm>
            <a:off x="4536338" y="2331720"/>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Fully offline operation</a:t>
            </a:r>
            <a:endParaRPr lang="en-US" sz="1080" dirty="0"/>
          </a:p>
        </p:txBody>
      </p:sp>
      <p:sp>
        <p:nvSpPr>
          <p:cNvPr id="14" name="Text 12"/>
          <p:cNvSpPr/>
          <p:nvPr/>
        </p:nvSpPr>
        <p:spPr>
          <a:xfrm>
            <a:off x="4536338" y="3044952"/>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Zero marginal cost at scale</a:t>
            </a:r>
            <a:endParaRPr lang="en-US" sz="1080" dirty="0"/>
          </a:p>
        </p:txBody>
      </p:sp>
      <p:sp>
        <p:nvSpPr>
          <p:cNvPr id="15" name="Text 13"/>
          <p:cNvSpPr/>
          <p:nvPr/>
        </p:nvSpPr>
        <p:spPr>
          <a:xfrm>
            <a:off x="4536338" y="3758184"/>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Sub-5ms on-device latency</a:t>
            </a:r>
            <a:endParaRPr lang="en-US" sz="1080" dirty="0"/>
          </a:p>
        </p:txBody>
      </p:sp>
      <p:sp>
        <p:nvSpPr>
          <p:cNvPr id="16" name="Text 14"/>
          <p:cNvSpPr/>
          <p:nvPr/>
        </p:nvSpPr>
        <p:spPr>
          <a:xfrm>
            <a:off x="4536338" y="4471416"/>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No utterances sent to cloud for classification</a:t>
            </a:r>
            <a:endParaRPr lang="en-US" sz="1080" dirty="0"/>
          </a:p>
        </p:txBody>
      </p:sp>
      <p:sp>
        <p:nvSpPr>
          <p:cNvPr id="17" name="Text 15"/>
          <p:cNvSpPr/>
          <p:nvPr/>
        </p:nvSpPr>
        <p:spPr>
          <a:xfrm>
            <a:off x="4536338" y="5184648"/>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Full code access / customization</a:t>
            </a:r>
            <a:endParaRPr lang="en-US" sz="1080" dirty="0"/>
          </a:p>
        </p:txBody>
      </p:sp>
      <p:sp>
        <p:nvSpPr>
          <p:cNvPr id="18" name="Shape 16"/>
          <p:cNvSpPr/>
          <p:nvPr/>
        </p:nvSpPr>
        <p:spPr>
          <a:xfrm>
            <a:off x="8203997" y="1645920"/>
            <a:ext cx="3484778" cy="4297680"/>
          </a:xfrm>
          <a:prstGeom prst="roundRect">
            <a:avLst>
              <a:gd name="adj" fmla="val 2099"/>
            </a:avLst>
          </a:prstGeom>
          <a:solidFill>
            <a:srgbClr val="F8E9E8"/>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9" name="Text 17"/>
          <p:cNvSpPr/>
          <p:nvPr/>
        </p:nvSpPr>
        <p:spPr>
          <a:xfrm>
            <a:off x="8386877" y="1810512"/>
            <a:ext cx="3119018" cy="502920"/>
          </a:xfrm>
          <a:prstGeom prst="rect">
            <a:avLst/>
          </a:prstGeom>
          <a:noFill/>
          <a:ln/>
        </p:spPr>
        <p:txBody>
          <a:bodyPr wrap="square" lIns="0" tIns="0" rIns="0" bIns="0" rtlCol="0" anchor="ctr"/>
          <a:lstStyle/>
          <a:p>
            <a:pPr indent="0" marL="0">
              <a:buNone/>
            </a:pPr>
            <a:r>
              <a:rPr lang="en-US" sz="1350" b="1" dirty="0">
                <a:solidFill>
                  <a:srgbClr val="A32B26"/>
                </a:solidFill>
                <a:latin typeface="Calibri" pitchFamily="34" charset="0"/>
                <a:ea typeface="Calibri" pitchFamily="34" charset="-122"/>
                <a:cs typeface="Calibri" pitchFamily="34" charset="-120"/>
              </a:rPr>
              <a:t>Still missing vs. Dialogflow</a:t>
            </a:r>
            <a:endParaRPr lang="en-US" sz="1350" dirty="0"/>
          </a:p>
        </p:txBody>
      </p:sp>
      <p:sp>
        <p:nvSpPr>
          <p:cNvPr id="20" name="Text 18"/>
          <p:cNvSpPr/>
          <p:nvPr/>
        </p:nvSpPr>
        <p:spPr>
          <a:xfrm>
            <a:off x="8386877" y="2331720"/>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Built-in observability / analytics</a:t>
            </a:r>
            <a:endParaRPr lang="en-US" sz="1080" dirty="0"/>
          </a:p>
        </p:txBody>
      </p:sp>
      <p:sp>
        <p:nvSpPr>
          <p:cNvPr id="21" name="Text 19"/>
          <p:cNvSpPr/>
          <p:nvPr/>
        </p:nvSpPr>
        <p:spPr>
          <a:xfrm>
            <a:off x="8386877" y="3044952"/>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CI/CD &amp; managed model lifecycle</a:t>
            </a:r>
            <a:endParaRPr lang="en-US" sz="1080" dirty="0"/>
          </a:p>
        </p:txBody>
      </p:sp>
      <p:sp>
        <p:nvSpPr>
          <p:cNvPr id="22" name="Text 20"/>
          <p:cNvSpPr/>
          <p:nvPr/>
        </p:nvSpPr>
        <p:spPr>
          <a:xfrm>
            <a:off x="8386877" y="3758184"/>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Multilingual (this track is English-only)</a:t>
            </a:r>
            <a:endParaRPr lang="en-US" sz="1080" dirty="0"/>
          </a:p>
        </p:txBody>
      </p:sp>
      <p:sp>
        <p:nvSpPr>
          <p:cNvPr id="23" name="Text 21"/>
          <p:cNvSpPr/>
          <p:nvPr/>
        </p:nvSpPr>
        <p:spPr>
          <a:xfrm>
            <a:off x="8386877" y="4471416"/>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A/B testing, staged rollout, rollback</a:t>
            </a:r>
            <a:endParaRPr lang="en-US" sz="1080" dirty="0"/>
          </a:p>
        </p:txBody>
      </p:sp>
      <p:sp>
        <p:nvSpPr>
          <p:cNvPr id="24" name="Text 22"/>
          <p:cNvSpPr/>
          <p:nvPr/>
        </p:nvSpPr>
        <p:spPr>
          <a:xfrm>
            <a:off x="8386877" y="5184648"/>
            <a:ext cx="3119018" cy="685800"/>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Generalisation to novel phrasing (bag-of-words limitation)</a:t>
            </a:r>
            <a:endParaRPr lang="en-US" sz="1080" dirty="0"/>
          </a:p>
        </p:txBody>
      </p:sp>
      <p:sp>
        <p:nvSpPr>
          <p:cNvPr id="25" name="Text 23"/>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05 · PRODUCTION READINESS</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Fixed vs. Still Open</a:t>
            </a:r>
            <a:endParaRPr lang="en-US" sz="3000" dirty="0"/>
          </a:p>
        </p:txBody>
      </p:sp>
      <p:sp>
        <p:nvSpPr>
          <p:cNvPr id="4" name="Text 2"/>
          <p:cNvSpPr/>
          <p:nvPr/>
        </p:nvSpPr>
        <p:spPr>
          <a:xfrm>
            <a:off x="502920" y="1371600"/>
            <a:ext cx="11185855" cy="365760"/>
          </a:xfrm>
          <a:prstGeom prst="rect">
            <a:avLst/>
          </a:prstGeom>
          <a:noFill/>
          <a:ln/>
        </p:spPr>
        <p:txBody>
          <a:bodyPr wrap="square" lIns="0" tIns="0" rIns="0" bIns="0" rtlCol="0" anchor="ctr"/>
          <a:lstStyle/>
          <a:p>
            <a:pPr indent="0" marL="0">
              <a:buNone/>
            </a:pPr>
            <a:r>
              <a:rPr lang="en-US" sz="1200" i="1" dirty="0">
                <a:solidFill>
                  <a:srgbClr val="5C6B8A"/>
                </a:solidFill>
                <a:latin typeface="Calibri" pitchFamily="34" charset="0"/>
                <a:ea typeface="Calibri" pitchFamily="34" charset="-122"/>
                <a:cs typeface="Calibri" pitchFamily="34" charset="-120"/>
              </a:rPr>
              <a:t>An external architecture review scored the overall system 4.5/10 for production readiness. For the keyword + TF-IDF classifier specifically:</a:t>
            </a:r>
            <a:endParaRPr lang="en-US" sz="1200" dirty="0"/>
          </a:p>
        </p:txBody>
      </p:sp>
      <p:sp>
        <p:nvSpPr>
          <p:cNvPr id="5" name="Shape 3"/>
          <p:cNvSpPr/>
          <p:nvPr/>
        </p:nvSpPr>
        <p:spPr>
          <a:xfrm>
            <a:off x="502920" y="1828800"/>
            <a:ext cx="5410048" cy="3337560"/>
          </a:xfrm>
          <a:prstGeom prst="roundRect">
            <a:avLst>
              <a:gd name="adj" fmla="val 2192"/>
            </a:avLst>
          </a:prstGeom>
          <a:solidFill>
            <a:srgbClr val="E7F3EC"/>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6" name="Text 4"/>
          <p:cNvSpPr/>
          <p:nvPr/>
        </p:nvSpPr>
        <p:spPr>
          <a:xfrm>
            <a:off x="731520" y="1965960"/>
            <a:ext cx="4952848" cy="274320"/>
          </a:xfrm>
          <a:prstGeom prst="rect">
            <a:avLst/>
          </a:prstGeom>
          <a:noFill/>
          <a:ln/>
        </p:spPr>
        <p:txBody>
          <a:bodyPr wrap="square" lIns="0" tIns="0" rIns="0" bIns="0" rtlCol="0" anchor="ctr"/>
          <a:lstStyle/>
          <a:p>
            <a:pPr indent="0" marL="0">
              <a:buNone/>
            </a:pPr>
            <a:r>
              <a:rPr lang="en-US" sz="1400" b="1" dirty="0">
                <a:solidFill>
                  <a:srgbClr val="1E7145"/>
                </a:solidFill>
                <a:latin typeface="Calibri" pitchFamily="34" charset="0"/>
                <a:ea typeface="Calibri" pitchFamily="34" charset="-122"/>
                <a:cs typeface="Calibri" pitchFamily="34" charset="-120"/>
              </a:rPr>
              <a:t>Fixed since the review</a:t>
            </a:r>
            <a:endParaRPr lang="en-US" sz="1400" dirty="0"/>
          </a:p>
        </p:txBody>
      </p:sp>
      <p:sp>
        <p:nvSpPr>
          <p:cNvPr id="7" name="Text 5"/>
          <p:cNvSpPr/>
          <p:nvPr/>
        </p:nvSpPr>
        <p:spPr>
          <a:xfrm>
            <a:off x="731520" y="228600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Raw utterance / PII removed from NLUResult.url (was a GDPR-risk field)</a:t>
            </a:r>
            <a:endParaRPr lang="en-US" sz="1000" dirty="0"/>
          </a:p>
        </p:txBody>
      </p:sp>
      <p:sp>
        <p:nvSpPr>
          <p:cNvPr id="8" name="Text 6"/>
          <p:cNvSpPr/>
          <p:nvPr/>
        </p:nvSpPr>
        <p:spPr>
          <a:xfrm>
            <a:off x="731520" y="265176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Structured per-turn logging added (stage, confidence, latency — never raw text by default)</a:t>
            </a:r>
            <a:endParaRPr lang="en-US" sz="1000" dirty="0"/>
          </a:p>
        </p:txBody>
      </p:sp>
      <p:sp>
        <p:nvSpPr>
          <p:cNvPr id="9" name="Text 7"/>
          <p:cNvSpPr/>
          <p:nvPr/>
        </p:nvSpPr>
        <p:spPr>
          <a:xfrm>
            <a:off x="731520" y="301752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Session &amp; context time-based TTL (was turn-count only, could re-fire stale confirmations)</a:t>
            </a:r>
            <a:endParaRPr lang="en-US" sz="1000" dirty="0"/>
          </a:p>
        </p:txBody>
      </p:sp>
      <p:sp>
        <p:nvSpPr>
          <p:cNvPr id="10" name="Text 8"/>
          <p:cNvSpPr/>
          <p:nvPr/>
        </p:nvSpPr>
        <p:spPr>
          <a:xfrm>
            <a:off x="731520" y="338328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Max slot-fill attempts (3) — was an unbounded retry trap for ASR-clarity users</a:t>
            </a:r>
            <a:endParaRPr lang="en-US" sz="1000" dirty="0"/>
          </a:p>
        </p:txBody>
      </p:sp>
      <p:sp>
        <p:nvSpPr>
          <p:cNvPr id="11" name="Text 9"/>
          <p:cNvSpPr/>
          <p:nvPr/>
        </p:nvSpPr>
        <p:spPr>
          <a:xfrm>
            <a:off x="731520" y="374904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Keyword confidence calibrated by match type (was a dishonest flat 1.0)</a:t>
            </a:r>
            <a:endParaRPr lang="en-US" sz="1000" dirty="0"/>
          </a:p>
        </p:txBody>
      </p:sp>
      <p:sp>
        <p:nvSpPr>
          <p:cNvPr id="12" name="Text 10"/>
          <p:cNvSpPr/>
          <p:nvPr/>
        </p:nvSpPr>
        <p:spPr>
          <a:xfrm>
            <a:off x="731520" y="411480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TF-IDF overconfidence fixed via post-hoc temperature scaling</a:t>
            </a:r>
            <a:endParaRPr lang="en-US" sz="1000" dirty="0"/>
          </a:p>
        </p:txBody>
      </p:sp>
      <p:sp>
        <p:nvSpPr>
          <p:cNvPr id="13" name="Text 11"/>
          <p:cNvSpPr/>
          <p:nvPr/>
        </p:nvSpPr>
        <p:spPr>
          <a:xfrm>
            <a:off x="731520" y="448056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"Default Fallback Intent" trained as a first-class label in the 60-class model, not a bolted-on threshold</a:t>
            </a:r>
            <a:endParaRPr lang="en-US" sz="1000" dirty="0"/>
          </a:p>
        </p:txBody>
      </p:sp>
      <p:sp>
        <p:nvSpPr>
          <p:cNvPr id="14" name="Text 12"/>
          <p:cNvSpPr/>
          <p:nvPr/>
        </p:nvSpPr>
        <p:spPr>
          <a:xfrm>
            <a:off x="731520" y="4846320"/>
            <a:ext cx="4952848" cy="34747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Model artifacts tracked in a SHA-256 manifest, verified at startup</a:t>
            </a:r>
            <a:endParaRPr lang="en-US" sz="1000" dirty="0"/>
          </a:p>
        </p:txBody>
      </p:sp>
      <p:sp>
        <p:nvSpPr>
          <p:cNvPr id="15" name="Shape 13"/>
          <p:cNvSpPr/>
          <p:nvPr/>
        </p:nvSpPr>
        <p:spPr>
          <a:xfrm>
            <a:off x="6278728" y="1828800"/>
            <a:ext cx="5410048" cy="3337560"/>
          </a:xfrm>
          <a:prstGeom prst="roundRect">
            <a:avLst>
              <a:gd name="adj" fmla="val 2192"/>
            </a:avLst>
          </a:prstGeom>
          <a:solidFill>
            <a:srgbClr val="F8E9E8"/>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6" name="Text 14"/>
          <p:cNvSpPr/>
          <p:nvPr/>
        </p:nvSpPr>
        <p:spPr>
          <a:xfrm>
            <a:off x="6507328" y="1965960"/>
            <a:ext cx="4952848" cy="274320"/>
          </a:xfrm>
          <a:prstGeom prst="rect">
            <a:avLst/>
          </a:prstGeom>
          <a:noFill/>
          <a:ln/>
        </p:spPr>
        <p:txBody>
          <a:bodyPr wrap="square" lIns="0" tIns="0" rIns="0" bIns="0" rtlCol="0" anchor="ctr"/>
          <a:lstStyle/>
          <a:p>
            <a:pPr indent="0" marL="0">
              <a:buNone/>
            </a:pPr>
            <a:r>
              <a:rPr lang="en-US" sz="1400" b="1" dirty="0">
                <a:solidFill>
                  <a:srgbClr val="A32B26"/>
                </a:solidFill>
                <a:latin typeface="Calibri" pitchFamily="34" charset="0"/>
                <a:ea typeface="Calibri" pitchFamily="34" charset="-122"/>
                <a:cs typeface="Calibri" pitchFamily="34" charset="-120"/>
              </a:rPr>
              <a:t>Still open</a:t>
            </a:r>
            <a:endParaRPr lang="en-US" sz="1400" dirty="0"/>
          </a:p>
        </p:txBody>
      </p:sp>
      <p:sp>
        <p:nvSpPr>
          <p:cNvPr id="17" name="Text 15"/>
          <p:cNvSpPr/>
          <p:nvPr/>
        </p:nvSpPr>
        <p:spPr>
          <a:xfrm>
            <a:off x="6507328" y="2286000"/>
            <a:ext cx="4952848" cy="48463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Dual-inference risk: Core ML vs. hand-rolled Swift scorer on iOS are separate code paths (P0 — see Mobile Deployment)</a:t>
            </a:r>
            <a:endParaRPr lang="en-US" sz="1000" dirty="0"/>
          </a:p>
        </p:txBody>
      </p:sp>
      <p:sp>
        <p:nvSpPr>
          <p:cNvPr id="18" name="Text 16"/>
          <p:cNvSpPr/>
          <p:nvPr/>
        </p:nvSpPr>
        <p:spPr>
          <a:xfrm>
            <a:off x="6507328" y="2788920"/>
            <a:ext cx="4952848" cy="48463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Manifest is not tamper-proof — no private-key signing, only accidental-corruption detection</a:t>
            </a:r>
            <a:endParaRPr lang="en-US" sz="1000" dirty="0"/>
          </a:p>
        </p:txBody>
      </p:sp>
      <p:sp>
        <p:nvSpPr>
          <p:cNvPr id="19" name="Text 17"/>
          <p:cNvSpPr/>
          <p:nvPr/>
        </p:nvSpPr>
        <p:spPr>
          <a:xfrm>
            <a:off x="6507328" y="3291840"/>
            <a:ext cx="4952848" cy="48463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Known regex-tier interrupt bug: a long utterance with an embedded command phrase can still wrongly interrupt a slot-fill flow</a:t>
            </a:r>
            <a:endParaRPr lang="en-US" sz="1000" dirty="0"/>
          </a:p>
        </p:txBody>
      </p:sp>
      <p:sp>
        <p:nvSpPr>
          <p:cNvPr id="20" name="Text 18"/>
          <p:cNvSpPr/>
          <p:nvPr/>
        </p:nvSpPr>
        <p:spPr>
          <a:xfrm>
            <a:off x="6507328" y="3794760"/>
            <a:ext cx="4952848" cy="48463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No graceful offline message when the GenAI fallback is unreachable</a:t>
            </a:r>
            <a:endParaRPr lang="en-US" sz="1000" dirty="0"/>
          </a:p>
        </p:txBody>
      </p:sp>
      <p:sp>
        <p:nvSpPr>
          <p:cNvPr id="21" name="Text 19"/>
          <p:cNvSpPr/>
          <p:nvPr/>
        </p:nvSpPr>
        <p:spPr>
          <a:xfrm>
            <a:off x="6507328" y="4297680"/>
            <a:ext cx="4952848" cy="48463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Manual training scripts only — no CI/CD trigger on data commits</a:t>
            </a:r>
            <a:endParaRPr lang="en-US" sz="1000" dirty="0"/>
          </a:p>
        </p:txBody>
      </p:sp>
      <p:sp>
        <p:nvSpPr>
          <p:cNvPr id="22" name="Text 20"/>
          <p:cNvSpPr/>
          <p:nvPr/>
        </p:nvSpPr>
        <p:spPr>
          <a:xfrm>
            <a:off x="6507328" y="4800600"/>
            <a:ext cx="4952848" cy="484632"/>
          </a:xfrm>
          <a:prstGeom prst="rect">
            <a:avLst/>
          </a:prstGeom>
          <a:noFill/>
          <a:ln/>
        </p:spPr>
        <p:txBody>
          <a:bodyPr wrap="square" lIns="0" tIns="0" rIns="0" bIns="0" rtlCol="0" anchor="ctr"/>
          <a:lstStyle/>
          <a:p>
            <a:pPr marL="342900" indent="-342900">
              <a:buSzPct val="100000"/>
              <a:buChar char="•"/>
            </a:pPr>
            <a:r>
              <a:rPr lang="en-US" sz="1000" dirty="0">
                <a:solidFill>
                  <a:srgbClr val="1A1F3B"/>
                </a:solidFill>
                <a:latin typeface="Calibri" pitchFamily="34" charset="0"/>
                <a:ea typeface="Calibri" pitchFamily="34" charset="-122"/>
                <a:cs typeface="Calibri" pitchFamily="34" charset="-120"/>
              </a:rPr>
              <a:t>Vocabulary-gap generalisation is an inherent bag-of-words limitation, not a bug to fix in this model</a:t>
            </a:r>
            <a:endParaRPr lang="en-US" sz="1000" dirty="0"/>
          </a:p>
        </p:txBody>
      </p:sp>
      <p:sp>
        <p:nvSpPr>
          <p:cNvPr id="23" name="Text 21"/>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74320"/>
          </a:xfrm>
          <a:prstGeom prst="rect">
            <a:avLst/>
          </a:prstGeom>
          <a:noFill/>
          <a:ln/>
        </p:spPr>
        <p:txBody>
          <a:bodyPr wrap="square" lIns="0" tIns="0" rIns="0" bIns="0" rtlCol="0" anchor="ctr"/>
          <a:lstStyle/>
          <a:p>
            <a:pPr indent="0" marL="0">
              <a:buNone/>
            </a:pPr>
            <a:r>
              <a:rPr lang="en-US" sz="1200" b="1" spc="200" kern="0" dirty="0">
                <a:solidFill>
                  <a:srgbClr val="5C6B8A"/>
                </a:solidFill>
                <a:latin typeface="Calibri" pitchFamily="34" charset="0"/>
                <a:ea typeface="Calibri" pitchFamily="34" charset="-122"/>
                <a:cs typeface="Calibri" pitchFamily="34" charset="-120"/>
              </a:rPr>
              <a:t>SECTION 06 · ROADMAP</a:t>
            </a:r>
            <a:endParaRPr lang="en-US" sz="1200" dirty="0"/>
          </a:p>
        </p:txBody>
      </p:sp>
      <p:sp>
        <p:nvSpPr>
          <p:cNvPr id="3" name="Text 1"/>
          <p:cNvSpPr/>
          <p:nvPr/>
        </p:nvSpPr>
        <p:spPr>
          <a:xfrm>
            <a:off x="502920" y="658368"/>
            <a:ext cx="11185855" cy="822960"/>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Recommended Next Steps</a:t>
            </a:r>
            <a:endParaRPr lang="en-US" sz="3000" dirty="0"/>
          </a:p>
        </p:txBody>
      </p:sp>
      <p:sp>
        <p:nvSpPr>
          <p:cNvPr id="4" name="Shape 2"/>
          <p:cNvSpPr/>
          <p:nvPr/>
        </p:nvSpPr>
        <p:spPr>
          <a:xfrm>
            <a:off x="502920" y="1645920"/>
            <a:ext cx="3484778" cy="4297680"/>
          </a:xfrm>
          <a:prstGeom prst="roundRect">
            <a:avLst>
              <a:gd name="adj" fmla="val 2099"/>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5" name="Shape 3"/>
          <p:cNvSpPr/>
          <p:nvPr/>
        </p:nvSpPr>
        <p:spPr>
          <a:xfrm>
            <a:off x="502920" y="1645920"/>
            <a:ext cx="3484778" cy="502920"/>
          </a:xfrm>
          <a:prstGeom prst="rect">
            <a:avLst/>
          </a:prstGeom>
          <a:solidFill>
            <a:srgbClr val="1E2761"/>
          </a:solidFill>
          <a:ln/>
        </p:spPr>
      </p:sp>
      <p:sp>
        <p:nvSpPr>
          <p:cNvPr id="6" name="Text 4"/>
          <p:cNvSpPr/>
          <p:nvPr/>
        </p:nvSpPr>
        <p:spPr>
          <a:xfrm>
            <a:off x="685800" y="1645920"/>
            <a:ext cx="3119018"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Near-term</a:t>
            </a:r>
            <a:endParaRPr lang="en-US" sz="1500" dirty="0"/>
          </a:p>
        </p:txBody>
      </p:sp>
      <p:sp>
        <p:nvSpPr>
          <p:cNvPr id="7" name="Text 5"/>
          <p:cNvSpPr/>
          <p:nvPr/>
        </p:nvSpPr>
        <p:spPr>
          <a:xfrm>
            <a:off x="704088" y="237744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Wire the TF-IDF stage end-to-end on Android via ONNX Runtime Mobile</a:t>
            </a:r>
            <a:endParaRPr lang="en-US" sz="1080" dirty="0"/>
          </a:p>
        </p:txBody>
      </p:sp>
      <p:sp>
        <p:nvSpPr>
          <p:cNvPr id="8" name="Text 6"/>
          <p:cNvSpPr/>
          <p:nvPr/>
        </p:nvSpPr>
        <p:spPr>
          <a:xfrm>
            <a:off x="704088" y="324612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Decide the iOS path — Core ML or hand-rolled Swift scorer — and close the dual-inference gap</a:t>
            </a:r>
            <a:endParaRPr lang="en-US" sz="1080" dirty="0"/>
          </a:p>
        </p:txBody>
      </p:sp>
      <p:sp>
        <p:nvSpPr>
          <p:cNvPr id="9" name="Text 7"/>
          <p:cNvSpPr/>
          <p:nvPr/>
        </p:nvSpPr>
        <p:spPr>
          <a:xfrm>
            <a:off x="704088" y="411480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Run the holdout benchmark against each native implementation; target parity with the Python reference</a:t>
            </a:r>
            <a:endParaRPr lang="en-US" sz="1080" dirty="0"/>
          </a:p>
        </p:txBody>
      </p:sp>
      <p:sp>
        <p:nvSpPr>
          <p:cNvPr id="10" name="Text 8"/>
          <p:cNvSpPr/>
          <p:nvPr/>
        </p:nvSpPr>
        <p:spPr>
          <a:xfrm>
            <a:off x="704088" y="498348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Consolidate onto a single, full-60-intent holdout benchmark</a:t>
            </a:r>
            <a:endParaRPr lang="en-US" sz="1080" dirty="0"/>
          </a:p>
        </p:txBody>
      </p:sp>
      <p:sp>
        <p:nvSpPr>
          <p:cNvPr id="11" name="Shape 9"/>
          <p:cNvSpPr/>
          <p:nvPr/>
        </p:nvSpPr>
        <p:spPr>
          <a:xfrm>
            <a:off x="4353458" y="1645920"/>
            <a:ext cx="3484778" cy="4297680"/>
          </a:xfrm>
          <a:prstGeom prst="roundRect">
            <a:avLst>
              <a:gd name="adj" fmla="val 2099"/>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2" name="Shape 10"/>
          <p:cNvSpPr/>
          <p:nvPr/>
        </p:nvSpPr>
        <p:spPr>
          <a:xfrm>
            <a:off x="4353458" y="1645920"/>
            <a:ext cx="3484778" cy="502920"/>
          </a:xfrm>
          <a:prstGeom prst="rect">
            <a:avLst/>
          </a:prstGeom>
          <a:solidFill>
            <a:srgbClr val="5C6B8A"/>
          </a:solidFill>
          <a:ln/>
        </p:spPr>
      </p:sp>
      <p:sp>
        <p:nvSpPr>
          <p:cNvPr id="13" name="Text 11"/>
          <p:cNvSpPr/>
          <p:nvPr/>
        </p:nvSpPr>
        <p:spPr>
          <a:xfrm>
            <a:off x="4536338" y="1645920"/>
            <a:ext cx="3119018"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Mid-term</a:t>
            </a:r>
            <a:endParaRPr lang="en-US" sz="1500" dirty="0"/>
          </a:p>
        </p:txBody>
      </p:sp>
      <p:sp>
        <p:nvSpPr>
          <p:cNvPr id="14" name="Text 12"/>
          <p:cNvSpPr/>
          <p:nvPr/>
        </p:nvSpPr>
        <p:spPr>
          <a:xfrm>
            <a:off x="4554626" y="237744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Build the iOS/Python conformance test suite (P0 in the architecture review)</a:t>
            </a:r>
            <a:endParaRPr lang="en-US" sz="1080" dirty="0"/>
          </a:p>
        </p:txBody>
      </p:sp>
      <p:sp>
        <p:nvSpPr>
          <p:cNvPr id="15" name="Text 13"/>
          <p:cNvSpPr/>
          <p:nvPr/>
        </p:nvSpPr>
        <p:spPr>
          <a:xfrm>
            <a:off x="4554626" y="324612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Expand training data for tail-class intents (several currently under-represented)</a:t>
            </a:r>
            <a:endParaRPr lang="en-US" sz="1080" dirty="0"/>
          </a:p>
        </p:txBody>
      </p:sp>
      <p:sp>
        <p:nvSpPr>
          <p:cNvPr id="16" name="Text 14"/>
          <p:cNvSpPr/>
          <p:nvPr/>
        </p:nvSpPr>
        <p:spPr>
          <a:xfrm>
            <a:off x="4554626" y="411480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Fix the regex-tier slot-interrupt bug (standalone-command detection)</a:t>
            </a:r>
            <a:endParaRPr lang="en-US" sz="1080" dirty="0"/>
          </a:p>
        </p:txBody>
      </p:sp>
      <p:sp>
        <p:nvSpPr>
          <p:cNvPr id="17" name="Text 15"/>
          <p:cNvSpPr/>
          <p:nvPr/>
        </p:nvSpPr>
        <p:spPr>
          <a:xfrm>
            <a:off x="4554626" y="498348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Add a graceful offline message when the GenAI fallback is unreachable</a:t>
            </a:r>
            <a:endParaRPr lang="en-US" sz="1080" dirty="0"/>
          </a:p>
        </p:txBody>
      </p:sp>
      <p:sp>
        <p:nvSpPr>
          <p:cNvPr id="18" name="Shape 16"/>
          <p:cNvSpPr/>
          <p:nvPr/>
        </p:nvSpPr>
        <p:spPr>
          <a:xfrm>
            <a:off x="8203997" y="1645920"/>
            <a:ext cx="3484778" cy="4297680"/>
          </a:xfrm>
          <a:prstGeom prst="roundRect">
            <a:avLst>
              <a:gd name="adj" fmla="val 2099"/>
            </a:avLst>
          </a:prstGeom>
          <a:solidFill>
            <a:srgbClr val="FFFFFF"/>
          </a:solidFill>
          <a:ln w="9525">
            <a:solidFill>
              <a:srgbClr val="D9E2F5"/>
            </a:solidFill>
            <a:prstDash val="solid"/>
          </a:ln>
          <a:effectLst>
            <a:outerShdw sx="100000" sy="100000" kx="0" ky="0" algn="bl" rotWithShape="0" blurRad="88900" dist="25400" dir="5400000">
              <a:srgbClr val="1E2761">
                <a:alpha val="10000"/>
              </a:srgbClr>
            </a:outerShdw>
          </a:effectLst>
        </p:spPr>
      </p:sp>
      <p:sp>
        <p:nvSpPr>
          <p:cNvPr id="19" name="Shape 17"/>
          <p:cNvSpPr/>
          <p:nvPr/>
        </p:nvSpPr>
        <p:spPr>
          <a:xfrm>
            <a:off x="8203997" y="1645920"/>
            <a:ext cx="3484778" cy="502920"/>
          </a:xfrm>
          <a:prstGeom prst="rect">
            <a:avLst/>
          </a:prstGeom>
          <a:solidFill>
            <a:srgbClr val="1E7145"/>
          </a:solidFill>
          <a:ln/>
        </p:spPr>
      </p:sp>
      <p:sp>
        <p:nvSpPr>
          <p:cNvPr id="20" name="Text 18"/>
          <p:cNvSpPr/>
          <p:nvPr/>
        </p:nvSpPr>
        <p:spPr>
          <a:xfrm>
            <a:off x="8386877" y="1645920"/>
            <a:ext cx="3119018"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Longer-term</a:t>
            </a:r>
            <a:endParaRPr lang="en-US" sz="1500" dirty="0"/>
          </a:p>
        </p:txBody>
      </p:sp>
      <p:sp>
        <p:nvSpPr>
          <p:cNvPr id="21" name="Text 19"/>
          <p:cNvSpPr/>
          <p:nvPr/>
        </p:nvSpPr>
        <p:spPr>
          <a:xfrm>
            <a:off x="8405165" y="237744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CI/CD: training + accuracy gate triggered on data commits</a:t>
            </a:r>
            <a:endParaRPr lang="en-US" sz="1080" dirty="0"/>
          </a:p>
        </p:txBody>
      </p:sp>
      <p:sp>
        <p:nvSpPr>
          <p:cNvPr id="22" name="Text 20"/>
          <p:cNvSpPr/>
          <p:nvPr/>
        </p:nvSpPr>
        <p:spPr>
          <a:xfrm>
            <a:off x="8405165" y="324612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Manifest signing for OTA model update integrity</a:t>
            </a:r>
            <a:endParaRPr lang="en-US" sz="1080" dirty="0"/>
          </a:p>
        </p:txBody>
      </p:sp>
      <p:sp>
        <p:nvSpPr>
          <p:cNvPr id="23" name="Text 21"/>
          <p:cNvSpPr/>
          <p:nvPr/>
        </p:nvSpPr>
        <p:spPr>
          <a:xfrm>
            <a:off x="8405165" y="411480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Structured telemetry dashboard for stage hit-rates and threshold drift</a:t>
            </a:r>
            <a:endParaRPr lang="en-US" sz="1080" dirty="0"/>
          </a:p>
        </p:txBody>
      </p:sp>
      <p:sp>
        <p:nvSpPr>
          <p:cNvPr id="24" name="Text 22"/>
          <p:cNvSpPr/>
          <p:nvPr/>
        </p:nvSpPr>
        <p:spPr>
          <a:xfrm>
            <a:off x="8405165" y="4983480"/>
            <a:ext cx="3082442" cy="841248"/>
          </a:xfrm>
          <a:prstGeom prst="rect">
            <a:avLst/>
          </a:prstGeom>
          <a:noFill/>
          <a:ln/>
        </p:spPr>
        <p:txBody>
          <a:bodyPr wrap="square" lIns="0" tIns="0" rIns="0" bIns="0" rtlCol="0" anchor="ctr"/>
          <a:lstStyle/>
          <a:p>
            <a:pPr marL="342900" indent="-342900">
              <a:buSzPct val="100000"/>
              <a:buChar char="•"/>
            </a:pPr>
            <a:r>
              <a:rPr lang="en-US" sz="1080" dirty="0">
                <a:solidFill>
                  <a:srgbClr val="1A1F3B"/>
                </a:solidFill>
                <a:latin typeface="Calibri" pitchFamily="34" charset="0"/>
                <a:ea typeface="Calibri" pitchFamily="34" charset="-122"/>
                <a:cs typeface="Calibri" pitchFamily="34" charset="-120"/>
              </a:rPr>
              <a:t>Evaluate semantic/paraphrase rescue as a follow-on phase (separate review)</a:t>
            </a:r>
            <a:endParaRPr lang="en-US" sz="1080" dirty="0"/>
          </a:p>
        </p:txBody>
      </p:sp>
      <p:sp>
        <p:nvSpPr>
          <p:cNvPr id="25" name="Text 23"/>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9AA3C2"/>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B49"/>
        </a:solidFill>
      </p:bgPr>
    </p:bg>
    <p:spTree>
      <p:nvGrpSpPr>
        <p:cNvPr id="1" name=""/>
        <p:cNvGrpSpPr/>
        <p:nvPr/>
      </p:nvGrpSpPr>
      <p:grpSpPr>
        <a:xfrm>
          <a:off x="0" y="0"/>
          <a:ext cx="0" cy="0"/>
          <a:chOff x="0" y="0"/>
          <a:chExt cx="0" cy="0"/>
        </a:xfrm>
      </p:grpSpPr>
      <p:sp>
        <p:nvSpPr>
          <p:cNvPr id="2" name="Text 0"/>
          <p:cNvSpPr/>
          <p:nvPr/>
        </p:nvSpPr>
        <p:spPr>
          <a:xfrm>
            <a:off x="502920" y="2103120"/>
            <a:ext cx="11185855" cy="457200"/>
          </a:xfrm>
          <a:prstGeom prst="rect">
            <a:avLst/>
          </a:prstGeom>
          <a:noFill/>
          <a:ln/>
        </p:spPr>
        <p:txBody>
          <a:bodyPr wrap="square" lIns="0" tIns="0" rIns="0" bIns="0" rtlCol="0" anchor="ctr"/>
          <a:lstStyle/>
          <a:p>
            <a:pPr indent="0" marL="0">
              <a:buNone/>
            </a:pPr>
            <a:r>
              <a:rPr lang="en-US" sz="1500" b="1" spc="200" kern="0" dirty="0">
                <a:solidFill>
                  <a:srgbClr val="CADCFC"/>
                </a:solidFill>
                <a:latin typeface="Calibri" pitchFamily="34" charset="0"/>
                <a:ea typeface="Calibri" pitchFamily="34" charset="-122"/>
                <a:cs typeface="Calibri" pitchFamily="34" charset="-120"/>
              </a:rPr>
              <a:t>Bottom Line</a:t>
            </a:r>
            <a:endParaRPr lang="en-US" sz="1500" dirty="0"/>
          </a:p>
        </p:txBody>
      </p:sp>
      <p:sp>
        <p:nvSpPr>
          <p:cNvPr id="3" name="Text 1"/>
          <p:cNvSpPr/>
          <p:nvPr/>
        </p:nvSpPr>
        <p:spPr>
          <a:xfrm>
            <a:off x="502920" y="2514600"/>
            <a:ext cx="11185855"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sound classifier, an honest gap to production</a:t>
            </a:r>
            <a:endParaRPr lang="en-US" sz="3200" dirty="0"/>
          </a:p>
        </p:txBody>
      </p:sp>
      <p:sp>
        <p:nvSpPr>
          <p:cNvPr id="4" name="Text 2"/>
          <p:cNvSpPr/>
          <p:nvPr/>
        </p:nvSpPr>
        <p:spPr>
          <a:xfrm>
            <a:off x="502920" y="3429000"/>
            <a:ext cx="9814255" cy="10515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The keyword + TF-IDF cascade correctly solves the core problem for well-represented commands — offline, sub-5ms, privacy-respecting intent classification. What remains is disciplined engineering: closing the iOS dual-inference gap, one consolidated benchmark, and the remaining production-hardening items above. Semantic/paraphrase understanding is being evaluated as a separate, follow-on phase.</a:t>
            </a:r>
            <a:endParaRPr lang="en-US" sz="1350" dirty="0"/>
          </a:p>
        </p:txBody>
      </p:sp>
      <p:sp>
        <p:nvSpPr>
          <p:cNvPr id="5" name="Text 3"/>
          <p:cNvSpPr/>
          <p:nvPr/>
        </p:nvSpPr>
        <p:spPr>
          <a:xfrm>
            <a:off x="502920" y="4937760"/>
            <a:ext cx="11185855"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Questions &amp; Discussion</a:t>
            </a:r>
            <a:endParaRPr lang="en-US" sz="1800" dirty="0"/>
          </a:p>
        </p:txBody>
      </p:sp>
      <p:sp>
        <p:nvSpPr>
          <p:cNvPr id="6" name="Text 4"/>
          <p:cNvSpPr/>
          <p:nvPr/>
        </p:nvSpPr>
        <p:spPr>
          <a:xfrm>
            <a:off x="11094415" y="6473952"/>
            <a:ext cx="822960" cy="274320"/>
          </a:xfrm>
          <a:prstGeom prst="rect">
            <a:avLst/>
          </a:prstGeom>
          <a:noFill/>
          <a:ln/>
        </p:spPr>
        <p:txBody>
          <a:bodyPr wrap="square" lIns="0" tIns="0" rIns="0" bIns="0" rtlCol="0" anchor="ctr"/>
          <a:lstStyle/>
          <a:p>
            <a:pPr algn="r" indent="0" marL="0">
              <a:buNone/>
            </a:pPr>
            <a:r>
              <a:rPr lang="en-US" sz="900" dirty="0">
                <a:solidFill>
                  <a:srgbClr val="8A93B8"/>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 Classification Model — Tech Lead Review</dc:title>
  <dc:subject>PptxGenJS Presentation</dc:subject>
  <dc:creator>NLU / ML Team</dc:creator>
  <cp:lastModifiedBy>NLU / ML Team</cp:lastModifiedBy>
  <cp:revision>1</cp:revision>
  <dcterms:created xsi:type="dcterms:W3CDTF">2026-07-08T06:59:08Z</dcterms:created>
  <dcterms:modified xsi:type="dcterms:W3CDTF">2026-07-08T06:59:08Z</dcterms:modified>
</cp:coreProperties>
</file>