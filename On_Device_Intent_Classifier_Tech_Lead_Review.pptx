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Progression on the legacy 100-utterance holdout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Holdout score (/100)</c:v>
                </c:pt>
              </c:strCache>
            </c:strRef>
          </c:tx>
          <c:spPr>
            <a:solidFill>
              <a:srgbClr val="1E2761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Baseline
(adv-2)</c:v>
                  </c:pt>
                  <c:pt idx="1">
                    <c:v>Sprint 1+2
hardening</c:v>
                  </c:pt>
                  <c:pt idx="2">
                    <c:v>Sprint 3
hardening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66</c:v>
                </c:pt>
                <c:pt idx="1">
                  <c:v>84</c:v>
                </c:pt>
                <c:pt idx="2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5E9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317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INTENT CLASSIFICATION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2743200"/>
            <a:ext cx="111858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Replacing Dialogflow with an Offline NLU Cascade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2920" y="3611880"/>
            <a:ext cx="102714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English-language model — architecture, real accuracy numbers, and production-readiness gaps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4617720"/>
            <a:ext cx="265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5120640"/>
            <a:ext cx="2659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345104" y="4617720"/>
            <a:ext cx="265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345104" y="5120640"/>
            <a:ext cx="2659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stages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187288" y="4617720"/>
            <a:ext cx="265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20 ms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187288" y="5120640"/>
            <a:ext cx="2659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latency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029471" y="4617720"/>
            <a:ext cx="265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~25 MB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9029471" y="5120640"/>
            <a:ext cx="2659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model footprint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6172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Tech Lead Review   |   Source: production codebase (scripts/, data/, models/, docs/)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410048" cy="1234440"/>
          </a:xfrm>
          <a:prstGeom prst="roundRect">
            <a:avLst>
              <a:gd name="adj" fmla="val 5926"/>
            </a:avLst>
          </a:prstGeom>
          <a:solidFill>
            <a:srgbClr val="EEF3FD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80136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FB4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63040" y="1819656"/>
            <a:ext cx="426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migrate off Dialogflow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463040" y="2203704"/>
            <a:ext cx="4267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and the hard constraints a hearing-aid app imposes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78728" y="1691640"/>
            <a:ext cx="5410048" cy="1234440"/>
          </a:xfrm>
          <a:prstGeom prst="roundRect">
            <a:avLst>
              <a:gd name="adj" fmla="val 5926"/>
            </a:avLst>
          </a:prstGeom>
          <a:solidFill>
            <a:srgbClr val="EEF3FD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61608" y="180136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FB4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238848" y="1819656"/>
            <a:ext cx="426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the 3-stage cascade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238848" y="2203704"/>
            <a:ext cx="4267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rules → TF-IDF/LogReg → MiniLM semantic rescue → GenAI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063240"/>
            <a:ext cx="5410048" cy="1234440"/>
          </a:xfrm>
          <a:prstGeom prst="roundRect">
            <a:avLst>
              <a:gd name="adj" fmla="val 5926"/>
            </a:avLst>
          </a:prstGeom>
          <a:solidFill>
            <a:srgbClr val="EEF3FD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317296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FB4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63040" y="3191256"/>
            <a:ext cx="426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&amp; real accuracy numbers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463040" y="3575304"/>
            <a:ext cx="4267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~10K training rows, multiple holdout sets, honest current scores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78728" y="3063240"/>
            <a:ext cx="5410048" cy="1234440"/>
          </a:xfrm>
          <a:prstGeom prst="roundRect">
            <a:avLst>
              <a:gd name="adj" fmla="val 5926"/>
            </a:avLst>
          </a:prstGeom>
          <a:solidFill>
            <a:srgbClr val="EEF3FD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61608" y="317296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FB4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238848" y="3191256"/>
            <a:ext cx="426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deployment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238848" y="3575304"/>
            <a:ext cx="4267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 Mobile (Android) vs Core ML (iOS)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4434840"/>
            <a:ext cx="5410048" cy="1234440"/>
          </a:xfrm>
          <a:prstGeom prst="roundRect">
            <a:avLst>
              <a:gd name="adj" fmla="val 5926"/>
            </a:avLst>
          </a:prstGeom>
          <a:solidFill>
            <a:srgbClr val="EEF3FD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454456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FB4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463040" y="4562856"/>
            <a:ext cx="426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Production-readiness gaps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463040" y="4946904"/>
            <a:ext cx="4267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fixed, what's still open — the unfiltered view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78728" y="4434840"/>
            <a:ext cx="5410048" cy="1234440"/>
          </a:xfrm>
          <a:prstGeom prst="roundRect">
            <a:avLst>
              <a:gd name="adj" fmla="val 5926"/>
            </a:avLst>
          </a:prstGeom>
          <a:solidFill>
            <a:srgbClr val="EEF3FD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61608" y="454456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FB4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238848" y="4562856"/>
            <a:ext cx="426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238848" y="4946904"/>
            <a:ext cx="4267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next steps to get from prototype to shippable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· 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We're Moving Off Dialogflow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pPr indent="0" marL="0">
              <a:buNone/>
            </a:pPr>
            <a:r>
              <a:rPr lang="en-US" sz="17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 speak naturally. Intent classifiers expect scripted phrases.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2148840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can't hear very well" is not "volume up" — and a hearing-aid app that misfires on that gap erodes user trust in the device itself.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2834640"/>
            <a:ext cx="5410048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3017520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— Dialogflow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47472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✗"/>
            </a:pPr>
            <a:r>
              <a:rPr lang="en-US" sz="115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classification is a network round-trip — fails completely offline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4041648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✗"/>
            </a:pPr>
            <a:r>
              <a:rPr lang="en-US" sz="115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round-trip latency unsuitable for a real-time hearing aid control loop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4608576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✗"/>
            </a:pPr>
            <a:r>
              <a:rPr lang="en-US" sz="115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utterances (some medical-context) leave the device to a third-party service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5175504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✗"/>
            </a:pPr>
            <a:r>
              <a:rPr lang="en-US" sz="115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per-call API cost that scales with usage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78728" y="2834640"/>
            <a:ext cx="5410048" cy="3108960"/>
          </a:xfrm>
          <a:prstGeom prst="roundRect">
            <a:avLst>
              <a:gd name="adj" fmla="val 2353"/>
            </a:avLst>
          </a:prstGeom>
          <a:solidFill>
            <a:srgbClr val="EEF3FD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53048" y="3017520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state — on-device cascade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53048" y="347472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15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runs fully on-device — works with zero connectivity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53048" y="4041648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15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Sub-20ms end-to-end latency on modern ARM (A-series / Snapdragon 6xx)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53048" y="4608576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15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utterances never leave the device for the classification path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53048" y="5175504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15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marginal cost per classification once shipped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· 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Constraints We're Designing Against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31860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947672"/>
            <a:ext cx="412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350008"/>
            <a:ext cx="4129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round-trip, ever. The model and every dependency ship inside the app bundle.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70168" y="1691640"/>
            <a:ext cx="531860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44488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64448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84568" y="1947672"/>
            <a:ext cx="412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Low-power hardware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84568" y="2350008"/>
            <a:ext cx="4129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run on A-series and Snapdragon 6xx class chips — not flagship-only silicon.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657600"/>
            <a:ext cx="531860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931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913632"/>
            <a:ext cx="412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floor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315968"/>
            <a:ext cx="4129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budget on holdout: total-correct floor AND a hard ceiling on “wrong-action” misses.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70168" y="3657600"/>
            <a:ext cx="531860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44488" y="3931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644488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84568" y="3913632"/>
            <a:ext cx="412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default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84568" y="4315968"/>
            <a:ext cx="4129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speech / utterance text is never logged by default — medical-device privacy standard.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·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3-Stage Cascade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each stage is cheaper than the next. Fast paths handle the common cases; the heavy model only runs when needed.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556434" cy="2331720"/>
          </a:xfrm>
          <a:prstGeom prst="roundRect">
            <a:avLst>
              <a:gd name="adj" fmla="val 3529"/>
            </a:avLst>
          </a:prstGeom>
          <a:solidFill>
            <a:srgbClr val="EEF3FD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7512" y="2130552"/>
            <a:ext cx="22272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67512" y="2423160"/>
            <a:ext cx="2227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Pre-filter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7512" y="3172968"/>
            <a:ext cx="22272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 ms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7512" y="3538728"/>
            <a:ext cx="2227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Schema-driven exact / regex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(nlu_schema.json)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041066" y="3003804"/>
            <a:ext cx="356616" cy="256032"/>
          </a:xfrm>
          <a:prstGeom prst="rightArrow">
            <a:avLst/>
          </a:prstGeom>
          <a:solidFill>
            <a:srgbClr val="5C6B8A"/>
          </a:solidFill>
          <a:ln/>
        </p:spPr>
      </p:sp>
      <p:sp>
        <p:nvSpPr>
          <p:cNvPr id="11" name="Shape 9"/>
          <p:cNvSpPr/>
          <p:nvPr/>
        </p:nvSpPr>
        <p:spPr>
          <a:xfrm>
            <a:off x="3379394" y="1965960"/>
            <a:ext cx="2556434" cy="2331720"/>
          </a:xfrm>
          <a:prstGeom prst="roundRect">
            <a:avLst>
              <a:gd name="adj" fmla="val 3529"/>
            </a:avLst>
          </a:prstGeom>
          <a:solidFill>
            <a:srgbClr val="1E2761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43986" y="2130552"/>
            <a:ext cx="22272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43986" y="2423160"/>
            <a:ext cx="2227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TF-IDF +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LogReg (ONNX)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43986" y="3172968"/>
            <a:ext cx="22272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~1–4 ms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43986" y="3538728"/>
            <a:ext cx="2227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60-class classifier,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7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temperature-calibrated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17540" y="3003804"/>
            <a:ext cx="356616" cy="256032"/>
          </a:xfrm>
          <a:prstGeom prst="rightArrow">
            <a:avLst/>
          </a:prstGeom>
          <a:solidFill>
            <a:srgbClr val="5C6B8A"/>
          </a:solidFill>
          <a:ln/>
        </p:spPr>
      </p:sp>
      <p:sp>
        <p:nvSpPr>
          <p:cNvPr id="17" name="Shape 15"/>
          <p:cNvSpPr/>
          <p:nvPr/>
        </p:nvSpPr>
        <p:spPr>
          <a:xfrm>
            <a:off x="6255868" y="1965960"/>
            <a:ext cx="2556434" cy="2331720"/>
          </a:xfrm>
          <a:prstGeom prst="roundRect">
            <a:avLst>
              <a:gd name="adj" fmla="val 3529"/>
            </a:avLst>
          </a:prstGeom>
          <a:solidFill>
            <a:srgbClr val="EEF3FD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20460" y="2130552"/>
            <a:ext cx="22272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20460" y="2423160"/>
            <a:ext cx="2227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MiniLM +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Head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20460" y="3172968"/>
            <a:ext cx="22272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~8–15 ms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20460" y="3538728"/>
            <a:ext cx="2227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384-dim embedding +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OOS rejection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794013" y="3003804"/>
            <a:ext cx="356616" cy="256032"/>
          </a:xfrm>
          <a:prstGeom prst="rightArrow">
            <a:avLst/>
          </a:prstGeom>
          <a:solidFill>
            <a:srgbClr val="5C6B8A"/>
          </a:solidFill>
          <a:ln/>
        </p:spPr>
      </p:sp>
      <p:sp>
        <p:nvSpPr>
          <p:cNvPr id="23" name="Shape 21"/>
          <p:cNvSpPr/>
          <p:nvPr/>
        </p:nvSpPr>
        <p:spPr>
          <a:xfrm>
            <a:off x="9132341" y="1965960"/>
            <a:ext cx="2556434" cy="2331720"/>
          </a:xfrm>
          <a:prstGeom prst="roundRect">
            <a:avLst>
              <a:gd name="adj" fmla="val 3529"/>
            </a:avLst>
          </a:prstGeom>
          <a:solidFill>
            <a:srgbClr val="F8E9E8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296933" y="2130552"/>
            <a:ext cx="22272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296933" y="2423160"/>
            <a:ext cx="2227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3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GenAI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A3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Handoff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96933" y="3172968"/>
            <a:ext cx="22272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296933" y="3538728"/>
            <a:ext cx="2227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all 3 on-device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decline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452628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arrow = “miss / below threshold”. A confident hit at any stage returns immediately — later stages never run.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· ARCHITECTURE — STAGE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1: Keyword Pre-filter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rule engine, zero ML. Rules live in data/nlu_schema.json under keyword_triggers — changing a trigger phrase means editing JSON, not redeploying code.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057400"/>
          <a:ext cx="6935230" cy="1828800"/>
        </p:xfrm>
        <a:graphic>
          <a:graphicData uri="http://schemas.openxmlformats.org/drawingml/2006/table">
            <a:tbl>
              <a:tblPr/>
              <a:tblGrid>
                <a:gridCol w="1941864"/>
                <a:gridCol w="1387046"/>
                <a:gridCol w="36063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"mute" → Cmd.VolumeMute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regex_guarded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+ exclusion regex (e.g. “translate” minus “what is translate”)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substring anywhere in the utterance, negation-checked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bare pattern match — the broadest, weakest signal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58190" y="2057400"/>
            <a:ext cx="3930585" cy="2834640"/>
          </a:xfrm>
          <a:prstGeom prst="roundRect">
            <a:avLst>
              <a:gd name="adj" fmla="val 2581"/>
            </a:avLst>
          </a:prstGeom>
          <a:solidFill>
            <a:srgbClr val="F8E9E8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986790" y="2240280"/>
            <a:ext cx="347338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guard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986790" y="2606040"/>
            <a:ext cx="347338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don't want to translate this" — "translate" is a contains keyword, but _is_negated() scans a 30-character window before the match for cues like "not", "don't", "without" and suppresses the hit.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4160520"/>
            <a:ext cx="11185855" cy="1417320"/>
          </a:xfrm>
          <a:prstGeom prst="roundRect">
            <a:avLst>
              <a:gd name="adj" fmla="val 5161"/>
            </a:avLst>
          </a:prstGeom>
          <a:solidFill>
            <a:srgbClr val="EEF3FD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7240" y="4315968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calibrated confidence (not a flat 1.0)?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77240" y="4663440"/>
            <a:ext cx="10637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versions returned 1.0 for every keyword hit. That let a weak “contains” match during slot-filling (e.g. “ask about the translate feature” mid-reminder) outrank a genuine interrupt and abandon collected slots. Match-type-calibrated confidence fixed this — only exact / regex / regex_guarded hits can interrupt an active flow.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· ARCHITECTURE — STAGE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2: TF-IDF + Logistic Regression (ONNX)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41004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83080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(scripts/train.py)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495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TfidfVectorizer(ngram_range=(1,2), min_df=2, sublinear_tf=True)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2761488"/>
            <a:ext cx="495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LogisticRegression(C=15.0, class_weight="balanced", max_iter=3000)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3328416"/>
            <a:ext cx="495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raw_scores=True — ONNX emits raw logits, not baked-in softmax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3895344"/>
            <a:ext cx="495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skl2onnx → intent_model.onnx; whole vectorizer baked into the graph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434340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gate: build fails and nothing is exported if held-out test-split accuracy &lt; 0.85 (MIN_TEST_ACCURACY).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78728" y="1600200"/>
            <a:ext cx="5410048" cy="3246120"/>
          </a:xfrm>
          <a:prstGeom prst="roundRect">
            <a:avLst>
              <a:gd name="adj" fmla="val 2254"/>
            </a:avLst>
          </a:prstGeom>
          <a:solidFill>
            <a:srgbClr val="EEF3FD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07328" y="1783080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fix — a real P0 resolved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507328" y="2148840"/>
            <a:ext cx="495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 flagged: C=15 makes plain LogisticRegression overconfident — probabilities cluster near 0/1, so the 0.70 threshold rarely rejects anything and Stage 3 is barely reached.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07328" y="2971800"/>
            <a:ext cx="495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shipped: single-parameter temperature scaling — softmax(logits / T) — fit post-hoc on device-equivalent logits (export_ios_weights.py), instead of wrapping in CalibratedClassifierCV. Temperature scaling is rank-preserving, so intent selection is unchanged; only confidence is honest.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07328" y="4251960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E7F3EC"/>
          </a:solidFill>
          <a:ln/>
        </p:spPr>
      </p:sp>
      <p:sp>
        <p:nvSpPr>
          <p:cNvPr id="16" name="Text 14"/>
          <p:cNvSpPr/>
          <p:nvPr/>
        </p:nvSpPr>
        <p:spPr>
          <a:xfrm>
            <a:off x="6507328" y="42519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5029200"/>
            <a:ext cx="1118585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521208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threshold: </a:t>
            </a:r>
            <a:pPr indent="0" marL="0">
              <a:buNone/>
            </a:pPr>
            <a:r>
              <a:rPr lang="en-US" sz="130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max(prob) ≥ 0.70   </a:t>
            </a:r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 Slot-filling intents: </a:t>
            </a:r>
            <a:pPr indent="0" marL="0">
              <a:buNone/>
            </a:pPr>
            <a:r>
              <a:rPr lang="en-US" sz="130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0.60 (avoids stalling flows on borderline confidence)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· ARCHITECTURE — STAGE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3: Why We Need Semantic Rescue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is bag-of-words. If a word never appeared in training data, it's invisible to the model — no amount of threshold tuning fixes that.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28800"/>
          <a:ext cx="7382664" cy="1920240"/>
        </p:xfrm>
        <a:graphic>
          <a:graphicData uri="http://schemas.openxmlformats.org/drawingml/2006/table">
            <a:tbl>
              <a:tblPr/>
              <a:tblGrid>
                <a:gridCol w="2510106"/>
                <a:gridCol w="2067146"/>
                <a:gridCol w="28054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intent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TF-IDF-only result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"kill the sound"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Cmd.VolumeMute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VolumeDecrease @ 0.26 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"dim the audio"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Cmd.VolumeDecrease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Fallback @ 0.21 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 need some quiet"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Cmd.VolumeMute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Fallback @ 0.44 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"switch listening profile"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Cmd.MemoryChange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Fallback @ 0.32 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159904" y="1828800"/>
            <a:ext cx="3528871" cy="1920240"/>
          </a:xfrm>
          <a:prstGeom prst="roundRect">
            <a:avLst>
              <a:gd name="adj" fmla="val 3810"/>
            </a:avLst>
          </a:prstGeom>
          <a:solidFill>
            <a:srgbClr val="F8E9E8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361072" y="1965960"/>
            <a:ext cx="31265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fall through to GenAI — a network-required fallback — for a device that must work offline. This was a measured failure rate, not a hypothesis.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02920" y="3977640"/>
            <a:ext cx="11185855" cy="2148840"/>
          </a:xfrm>
          <a:prstGeom prst="roundRect">
            <a:avLst>
              <a:gd name="adj" fmla="val 3404"/>
            </a:avLst>
          </a:prstGeom>
          <a:solidFill>
            <a:srgbClr val="EEF3FD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" y="411480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frozen MiniLM-L6-v2 + trained logistic head (SetFit-style)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77240" y="4480560"/>
            <a:ext cx="106372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Encoder: 6-layer transformer, INT8 ONNX (~22–23 MB), 384-dim mean-pooled, L2-normalised embedding — hand-rolled WordPiece tokenizer, no native mobile dependency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777240" y="4864608"/>
            <a:ext cx="106372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Head: 60×384 logistic regression trained on embeddings of ~1,900+ phrases (encoder never fine-tuned — keeps training under 2 minutes)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777240" y="5248656"/>
            <a:ext cx="106372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"Default Fallback Intent" class trained on curated out-of-scope phrases — rejection is learned, not threshold-guessed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777240" y="5632704"/>
            <a:ext cx="106372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threshold in data/nlu_schema.json: semantic_threshold = 0.4 (re-tuned since the 0.55 documented in early design notes — thresholds move as data grows)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· ARCHITECTURE — DIALOGUE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Multi-Turn Slot Filling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4698059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64792"/>
            <a:ext cx="42408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flow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2121408"/>
            <a:ext cx="42408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 </a:t>
            </a:r>
            <a:pPr indent="0" marL="0">
              <a:buNone/>
            </a:pPr>
            <a:r>
              <a:rPr lang="en-US" sz="1080" i="1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"set a reminder"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731520" y="2505456"/>
            <a:ext cx="42408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Engine:  </a:t>
            </a:r>
            <a:pPr indent="0" marL="0">
              <a:buNone/>
            </a:pPr>
            <a:r>
              <a:rPr lang="en-US" sz="108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would you like to be reminded about?"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731520" y="2889504"/>
            <a:ext cx="42408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 </a:t>
            </a:r>
            <a:pPr indent="0" marL="0">
              <a:buNone/>
            </a:pPr>
            <a:r>
              <a:rPr lang="en-US" sz="1080" i="1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"dinner with mum"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731520" y="3273552"/>
            <a:ext cx="42408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Engine:  </a:t>
            </a:r>
            <a:pPr indent="0" marL="0">
              <a:buNone/>
            </a:pPr>
            <a:r>
              <a:rPr lang="en-US" sz="108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"When should I remind you?"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42408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 </a:t>
            </a:r>
            <a:pPr indent="0" marL="0">
              <a:buNone/>
            </a:pPr>
            <a:r>
              <a:rPr lang="en-US" sz="1080" i="1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"tomorrow at 7pm"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731520" y="4041648"/>
            <a:ext cx="42408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Engine:  </a:t>
            </a:r>
            <a:pPr indent="0" marL="0">
              <a:buNone/>
            </a:pPr>
            <a:r>
              <a:rPr lang="en-US" sz="108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Reminder set — tomorrow 19:00, dinner with mum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521019" y="1600200"/>
            <a:ext cx="6167756" cy="3063240"/>
          </a:xfrm>
          <a:prstGeom prst="roundRect">
            <a:avLst>
              <a:gd name="adj" fmla="val 2388"/>
            </a:avLst>
          </a:prstGeom>
          <a:solidFill>
            <a:srgbClr val="EEF3FD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749619" y="1764792"/>
            <a:ext cx="5710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49619" y="2084832"/>
          <a:ext cx="5710556" cy="2377440"/>
        </p:xfrm>
        <a:graphic>
          <a:graphicData uri="http://schemas.openxmlformats.org/drawingml/2006/table">
            <a:tbl>
              <a:tblPr/>
              <a:tblGrid>
                <a:gridCol w="2626856"/>
                <a:gridCol w="30837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MAX_SLOT_ATTEMPTS = 3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prevents infinite loops on unrecognisable answers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TTL = 90s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 context from a prior turn can't re-fire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TTL = 600s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idle sessions reset cleanly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Interrupt ≥ 0.85 (exact/regex only)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new command cancels slot fill; weak “contains” can't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02920" y="4864608"/>
            <a:ext cx="11185855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77240" y="4992624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77240" y="5376672"/>
            <a:ext cx="2453564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5376672"/>
            <a:ext cx="2453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230804" y="5513832"/>
            <a:ext cx="274320" cy="274320"/>
          </a:xfrm>
          <a:prstGeom prst="rightArrow">
            <a:avLst/>
          </a:prstGeom>
          <a:solidFill>
            <a:srgbClr val="5C6B8A"/>
          </a:solidFill>
          <a:ln/>
        </p:spPr>
      </p:sp>
      <p:sp>
        <p:nvSpPr>
          <p:cNvPr id="20" name="Shape 17"/>
          <p:cNvSpPr/>
          <p:nvPr/>
        </p:nvSpPr>
        <p:spPr>
          <a:xfrm>
            <a:off x="3505124" y="5376672"/>
            <a:ext cx="2453564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1" name="Text 18"/>
          <p:cNvSpPr/>
          <p:nvPr/>
        </p:nvSpPr>
        <p:spPr>
          <a:xfrm>
            <a:off x="3505124" y="5376672"/>
            <a:ext cx="2453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958688" y="5513832"/>
            <a:ext cx="274320" cy="274320"/>
          </a:xfrm>
          <a:prstGeom prst="rightArrow">
            <a:avLst/>
          </a:prstGeom>
          <a:solidFill>
            <a:srgbClr val="5C6B8A"/>
          </a:solidFill>
          <a:ln/>
        </p:spPr>
      </p:sp>
      <p:sp>
        <p:nvSpPr>
          <p:cNvPr id="23" name="Shape 20"/>
          <p:cNvSpPr/>
          <p:nvPr/>
        </p:nvSpPr>
        <p:spPr>
          <a:xfrm>
            <a:off x="6233008" y="5376672"/>
            <a:ext cx="2453564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4" name="Text 21"/>
          <p:cNvSpPr/>
          <p:nvPr/>
        </p:nvSpPr>
        <p:spPr>
          <a:xfrm>
            <a:off x="6233008" y="5376672"/>
            <a:ext cx="2453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8686571" y="5513832"/>
            <a:ext cx="274320" cy="274320"/>
          </a:xfrm>
          <a:prstGeom prst="rightArrow">
            <a:avLst/>
          </a:prstGeom>
          <a:solidFill>
            <a:srgbClr val="5C6B8A"/>
          </a:solidFill>
          <a:ln/>
        </p:spPr>
      </p:sp>
      <p:sp>
        <p:nvSpPr>
          <p:cNvPr id="26" name="Shape 23"/>
          <p:cNvSpPr/>
          <p:nvPr/>
        </p:nvSpPr>
        <p:spPr>
          <a:xfrm>
            <a:off x="8960891" y="5376672"/>
            <a:ext cx="2453564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7" name="Text 24"/>
          <p:cNvSpPr/>
          <p:nvPr/>
        </p:nvSpPr>
        <p:spPr>
          <a:xfrm>
            <a:off x="8960891" y="5376672"/>
            <a:ext cx="2453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777240" y="5897880"/>
            <a:ext cx="10637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(conf ≥ 0.85) can re-enter CLASSIFY from any state, discarding the pending slot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· ARCHITECTURE — ENTITIES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 Extraction: DateTime &amp; Fuzzy Enums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410048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28800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 parsing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495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3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language: "tomorrow at 7pm", "next Monday morning", "in 2 hours"</a:t>
            </a:r>
            <a:endParaRPr lang="en-US" sz="113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495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3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 UTC ISO 8601 with offset — fixes the original local-naive bug that broke reminders across timezones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495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3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guards: "quarter to 13" (invalid hour), "0 to 3" (minute=60) return None safely instead of raising ValueError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6278728" y="1645920"/>
            <a:ext cx="5410048" cy="3017520"/>
          </a:xfrm>
          <a:prstGeom prst="roundRect">
            <a:avLst>
              <a:gd name="adj" fmla="val 2424"/>
            </a:avLst>
          </a:prstGeom>
          <a:solidFill>
            <a:srgbClr val="EEF3FD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07328" y="1828800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enum matching (memory modes)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07328" y="2240280"/>
            <a:ext cx="495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3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 first: "Restaurant" → Restaurant</a:t>
            </a:r>
            <a:endParaRPr lang="en-US" sz="1130" dirty="0"/>
          </a:p>
        </p:txBody>
      </p:sp>
      <p:sp>
        <p:nvSpPr>
          <p:cNvPr id="12" name="Text 10"/>
          <p:cNvSpPr/>
          <p:nvPr/>
        </p:nvSpPr>
        <p:spPr>
          <a:xfrm>
            <a:off x="6507328" y="2807208"/>
            <a:ext cx="495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3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second (Levenshtein ratio ≥ 0.3): "restraunt" → Restaurant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6507328" y="3374136"/>
            <a:ext cx="495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3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gate: words &lt; 5 chars bypass fuzzy — fixes "cab"→"Car", "gum"→"Gym" false collisions</a:t>
            </a:r>
            <a:endParaRPr lang="en-US" sz="1130" dirty="0"/>
          </a:p>
        </p:txBody>
      </p:sp>
      <p:sp>
        <p:nvSpPr>
          <p:cNvPr id="14" name="Text 12"/>
          <p:cNvSpPr/>
          <p:nvPr/>
        </p:nvSpPr>
        <p:spPr>
          <a:xfrm>
            <a:off x="6507328" y="3941064"/>
            <a:ext cx="495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3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initial scan disables fuzzy entirely — only explicit slot answers get it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502920" y="4846320"/>
            <a:ext cx="11185855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498348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Back-reference resolution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77240" y="530352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"Change back" / "Remind me again" resolve from session state via a declarative back_reference field in the schema — not hardcoded per-intent, so new back-referenceable intents need zero engine code.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DATA &amp; ACCURACY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Data Pipeline — the Real Numbers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185855" cy="2788920"/>
        </p:xfrm>
        <a:graphic>
          <a:graphicData uri="http://schemas.openxmlformats.org/drawingml/2006/table">
            <a:tbl>
              <a:tblPr/>
              <a:tblGrid>
                <a:gridCol w="4474342"/>
                <a:gridCol w="1118586"/>
                <a:gridCol w="1566020"/>
                <a:gridCol w="4026908"/>
              </a:tblGrid>
              <a:tr h="3984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984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04_GENERATED_MASTER_training_data.csv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~9,991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training set both TF-IDF and MiniLM head read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84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01_source_base_training_data.csv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8,325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hand-maintained base corpus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84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02_source_manual_corrections.csv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hand-written conversational paraphrases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84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03_generated_augmented_phrases.csv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1,378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augmentation phrases merged into master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84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semantic_oos_2.csv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curated out-of-scope phrases (Default Fallback class)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84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semantic_holdout_2.csv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permanent evaluation benchmark — never trained 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617720"/>
            <a:ext cx="11185855" cy="1508760"/>
          </a:xfrm>
          <a:prstGeom prst="roundRect">
            <a:avLst>
              <a:gd name="adj" fmla="val 4848"/>
            </a:avLst>
          </a:prstGeom>
          <a:solidFill>
            <a:srgbClr val="EEF3FD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475488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guard — the honesty mechanism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77240" y="507492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train.py hard-fails the build if any holdout utterance appears in the training set (exact-match check). build_augmented_data.py filters holdout/benchmark phrases out of augmentation before they're ever generated. This is what keeps the benchmark an honest generalisation test rather than a self-graded one.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DATA &amp; ACCURACY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Quality: the Honest Picture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271455" y="713232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FBEEE0"/>
          </a:solidFill>
          <a:ln/>
        </p:spPr>
      </p:sp>
      <p:sp>
        <p:nvSpPr>
          <p:cNvPr id="5" name="Text 3"/>
          <p:cNvSpPr/>
          <p:nvPr/>
        </p:nvSpPr>
        <p:spPr>
          <a:xfrm>
            <a:off x="10271455" y="7132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5410048" cy="3200400"/>
          </a:xfrm>
          <a:prstGeom prst="roundRect">
            <a:avLst>
              <a:gd name="adj" fmla="val 2286"/>
            </a:avLst>
          </a:prstGeom>
          <a:solidFill>
            <a:srgbClr val="F8E9E8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828800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found (Sprint 3 data audit)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212848"/>
            <a:ext cx="495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imbalance: MemoryChange had 1,821 rows vs Help_Battery's 18 — a 100× range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495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Near-duplicate spam: ~70% of MemoryChange rows fell into just 3-gram buckets (“can you change X” ×185 variants)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731520" y="3273552"/>
            <a:ext cx="495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class undersized: 156 out-of-scope phrases vs ~6,800 in-scope (2.2% of corpus)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731520" y="3803904"/>
            <a:ext cx="495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head overfit tail classes at C=10.0 in 384-dim space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731520" y="4334256"/>
            <a:ext cx="495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blind spot: original 100-row set covered only 10 of 60 intents — 50 intents were completely unmeasured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278728" y="1645920"/>
            <a:ext cx="5410048" cy="3200400"/>
          </a:xfrm>
          <a:prstGeom prst="roundRect">
            <a:avLst>
              <a:gd name="adj" fmla="val 2286"/>
            </a:avLst>
          </a:prstGeom>
          <a:solidFill>
            <a:srgbClr val="E7F3EC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07328" y="1828800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levers applied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07328" y="2212848"/>
            <a:ext cx="4952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cap at 250 (deterministic keep-newest) — removes ~70% near-duplicate spam without losing tail classes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6507328" y="2834640"/>
            <a:ext cx="4952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head C reduced 10.0 → 1.5 — trades a little in-distribution fit for much less tail-class overfitting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6507328" y="3456432"/>
            <a:ext cx="4952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accuracy + macro-F1 now reported every training run — tail regressions can't hide behind a headline number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507328" y="4078224"/>
            <a:ext cx="4952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expansion templates created for full 60-intent coverage (in progress)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502920" y="50292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slide matters: accuracy numbers are only as honest as the benchmark measuring them. This gap is real, tracked, and partially — not fully — closed.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DATA &amp; ACCURACY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Artifacts &amp; Integrity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6711513" cy="2834640"/>
        </p:xfrm>
        <a:graphic>
          <a:graphicData uri="http://schemas.openxmlformats.org/drawingml/2006/table">
            <a:tbl>
              <a:tblPr/>
              <a:tblGrid>
                <a:gridCol w="2818836"/>
                <a:gridCol w="2147684"/>
                <a:gridCol w="1744993"/>
              </a:tblGrid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Artifact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intent_model.onnx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 + LogReg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~2–4 MB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intent_labels.json / .pkl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60-class label array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minilm-l6-v2.onnx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encoder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~22–23 MB (INT8)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minilm-vocab.txt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tokenizer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30,522 WordPiece tokens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semantic_head.json / .npz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head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~232 KB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manifest.json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SHA-256 of all 8 artifacts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534473" y="1645920"/>
            <a:ext cx="4154302" cy="2834640"/>
          </a:xfrm>
          <a:prstGeom prst="roundRect">
            <a:avLst>
              <a:gd name="adj" fmla="val 2581"/>
            </a:avLst>
          </a:prstGeom>
          <a:solidFill>
            <a:srgbClr val="EEF3FD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35641" y="1810512"/>
            <a:ext cx="37519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735641" y="2121408"/>
            <a:ext cx="375196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verify_manifest() runs at IntentClassifier.__init__ — startup fails fast on any hash mismatch. A corrupted or swapped model file otherwise produces wrong classifications silently. generate_manifest() runs at the end of every training script automatically.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735641" y="3611880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E7F3EC"/>
          </a:solidFill>
          <a:ln/>
        </p:spPr>
      </p:sp>
      <p:sp>
        <p:nvSpPr>
          <p:cNvPr id="9" name="Text 6"/>
          <p:cNvSpPr/>
          <p:nvPr/>
        </p:nvSpPr>
        <p:spPr>
          <a:xfrm>
            <a:off x="7735641" y="36118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02920" y="4709160"/>
            <a:ext cx="11185855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77240" y="484632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on-device footprint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77240" y="5166360"/>
            <a:ext cx="10637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MB combined (MiniLM dominates). iOS Core ML variants trade size for accuracy risk: FP16 ~45 MB, 6-bit palettized ~22 MB (current default), 4-bit ~12–14 MB (higher accuracy risk, needs re-validation before shipping).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DATA &amp; ACCURACY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Accuracy: the Honest Current Numbers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600200"/>
          <a:ext cx="5145493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68453" y="1600200"/>
            <a:ext cx="5720322" cy="2606040"/>
          </a:xfrm>
          <a:prstGeom prst="roundRect">
            <a:avLst>
              <a:gd name="adj" fmla="val 2807"/>
            </a:avLst>
          </a:prstGeom>
          <a:solidFill>
            <a:srgbClr val="EEF3FD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197053" y="1737360"/>
            <a:ext cx="52631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v3 pipeline (active benchmark: semantic_holdout_2.csv, 341 rows)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197053" y="2212848"/>
            <a:ext cx="289471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stage alone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091770" y="2212848"/>
            <a:ext cx="236840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~89.4%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197053" y="2670048"/>
            <a:ext cx="289471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091770" y="2670048"/>
            <a:ext cx="236840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~94%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197053" y="3127248"/>
            <a:ext cx="289471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23-case suite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091770" y="3127248"/>
            <a:ext cx="236840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/ 23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197053" y="3602736"/>
            <a:ext cx="52631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Wrong-action miss = the pipeline confidently fired the wrong command — the safety metric that matters most for a hearing-aid app.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02920" y="4434840"/>
            <a:ext cx="11185855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77240" y="457200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Reconciling the numbers, honestly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77240" y="4892040"/>
            <a:ext cx="106372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two different benchmarks (a 100-row legacy set vs. the current 341-row set) measured across different branches — not the same number reported inconsistently. ±2-phrase run-to-run variance is expected from BLAS threading during the semantic head's logistic-regression fit. Recommendation: consolidate onto one benchmark before quoting a single accuracy figure externally (see Roadmap).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DATA &amp; ACCURACY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Coverage &amp; Accuracy Gates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7158947" cy="2651760"/>
        </p:xfrm>
        <a:graphic>
          <a:graphicData uri="http://schemas.openxmlformats.org/drawingml/2006/table">
            <a:tbl>
              <a:tblPr/>
              <a:tblGrid>
                <a:gridCol w="2290863"/>
                <a:gridCol w="1288611"/>
                <a:gridCol w="3579474"/>
              </a:tblGrid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Assertions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test_nlu.py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engine + entity extraction correctness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test_sprint1_hardening.py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PII removal, TTLs, slot limits, keyword confidence, negation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test_sprint2_hardening.py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OOS class, threshold source-of-truth, semantic load, yes/no idioms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test_sprint3_hardening.py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interrupt demotion, fuzzy gate, legacy 1-NN removal, gate is real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test_holdout.py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pipeline accuracy gate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434840"/>
            <a:ext cx="71589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automated assertions total across 5 test files.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936187" y="1645920"/>
            <a:ext cx="3752588" cy="3063240"/>
          </a:xfrm>
          <a:prstGeom prst="roundRect">
            <a:avLst>
              <a:gd name="adj" fmla="val 2388"/>
            </a:avLst>
          </a:prstGeom>
          <a:solidFill>
            <a:srgbClr val="EEF3FD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137355" y="1810512"/>
            <a:ext cx="3350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dual holdout gate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37355" y="2121408"/>
            <a:ext cx="3350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test_holdout.py --strict must clear BOTH: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37355" y="2395728"/>
            <a:ext cx="33502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correct ≥ floor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Wrong-action misses ≤ ceiling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137355" y="3017520"/>
            <a:ext cx="33502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wrong-action miss (confidently fires the wrong command) is penalised harder than a safe GenAI fallback.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137355" y="3611880"/>
            <a:ext cx="33502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is provably real: test_sprint3_hardening.py sets an impossible floor (99/100) and asserts the gate FAILS — proving it isn't a no-op.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4892040"/>
            <a:ext cx="11185855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77240" y="501091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still missing vs. a real CI/CD pipeline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77240" y="530352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this runs manually today. There is no CI workflow triggered on data commits, no automated blue/green model rollout, and no dashboard tracking gate results over time — see Roadmap.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· MOBILE 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Android vs. iOS Deployment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410048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28800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— ONNX Runtime Mobile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495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artifacts bundled in app/src/main/assets/nlu/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495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NLUEngine.kt mirrors the Python 3-stage cascade exactly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495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 Mobile runs both the TF-IDF and MiniLM ONNX graphs directly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886200"/>
            <a:ext cx="495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WordPiece tokenizer ported to Kotlin (~60 lines)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434840"/>
            <a:ext cx="495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head: load semantic_head.json, matrix-multiply via Kotlin arrays / NDK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78728" y="1645920"/>
            <a:ext cx="5410048" cy="3520440"/>
          </a:xfrm>
          <a:prstGeom prst="roundRect">
            <a:avLst>
              <a:gd name="adj" fmla="val 2078"/>
            </a:avLst>
          </a:prstGeom>
          <a:solidFill>
            <a:srgbClr val="EEF3FD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07328" y="1828800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— Core ML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507328" y="2240280"/>
            <a:ext cx="495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converted to .mlpackage via coremltools (one-time, offline, on a Mac)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07328" y="2788920"/>
            <a:ext cx="495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NLUEngine.swift mirrors the same 3-stage logic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07328" y="3337560"/>
            <a:ext cx="495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runs on the Apple Neural Engine (A12+): ~3–5 ms vs ~15 ms on CPU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07328" y="3886200"/>
            <a:ext cx="495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32-token sequence length (down from dynamic 1–64) keeps the encoder ANE-resident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07328" y="4434840"/>
            <a:ext cx="495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head: semantic_head.json + Accelerate.vDSP matrix multiply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5349240"/>
            <a:ext cx="11185855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" y="548640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strategy — both platforms: </a:t>
            </a:r>
            <a:pPr indent="0" marL="0">
              <a:buNone/>
            </a:pPr>
            <a:r>
              <a:rPr lang="en-US" sz="120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loads lazily on the first Stage-3 call. Cold start uses only Stage 1 + Stage 2, so app launch is never blocked on the 22 MB encoder.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· PRODUCTION READINESS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Honest Comparison vs. Dialogflow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484778" cy="4297680"/>
          </a:xfrm>
          <a:prstGeom prst="roundRect">
            <a:avLst>
              <a:gd name="adj" fmla="val 2099"/>
            </a:avLst>
          </a:prstGeom>
          <a:solidFill>
            <a:srgbClr val="E7F3EC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810512"/>
            <a:ext cx="31190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Dialogflow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31190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classification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685800" y="3044952"/>
            <a:ext cx="31190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filling &amp; back-reference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85800" y="3758184"/>
            <a:ext cx="31190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extraction (datetime, enums)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685800" y="4471416"/>
            <a:ext cx="31190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Affirmative / negative context handling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85800" y="5184648"/>
            <a:ext cx="31190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Schema-driven configuration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353458" y="1645920"/>
            <a:ext cx="3484778" cy="4297680"/>
          </a:xfrm>
          <a:prstGeom prst="roundRect">
            <a:avLst>
              <a:gd name="adj" fmla="val 2099"/>
            </a:avLst>
          </a:prstGeom>
          <a:solidFill>
            <a:srgbClr val="EEF3FD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36338" y="1810512"/>
            <a:ext cx="31190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Dialogflow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36338" y="2331720"/>
            <a:ext cx="31190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 operation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4536338" y="3044952"/>
            <a:ext cx="31190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marginal cost at scale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4536338" y="3758184"/>
            <a:ext cx="31190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Sub-20ms on-device latency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4536338" y="4471416"/>
            <a:ext cx="31190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utterances sent to cloud for classification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4536338" y="5184648"/>
            <a:ext cx="31190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code access / customization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8203997" y="1645920"/>
            <a:ext cx="3484778" cy="4297680"/>
          </a:xfrm>
          <a:prstGeom prst="roundRect">
            <a:avLst>
              <a:gd name="adj" fmla="val 2099"/>
            </a:avLst>
          </a:prstGeom>
          <a:solidFill>
            <a:srgbClr val="F8E9E8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86877" y="1810512"/>
            <a:ext cx="31190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missing vs. Dialogflow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386877" y="2331720"/>
            <a:ext cx="31190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observability / analytics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8386877" y="3044952"/>
            <a:ext cx="31190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&amp; managed model lifecycle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8386877" y="3758184"/>
            <a:ext cx="31190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(this track is English-only)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8386877" y="4471416"/>
            <a:ext cx="31190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testing, staged rollout, rollback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8386877" y="5184648"/>
            <a:ext cx="31190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OOS rejection as mature as Dialogflow's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· PRODUCTION READINESS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vs. Still Open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external architecture review scored this system 4.5/10 for production readiness (“NO-GO for production, conditional GO for closed beta”). Since then: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410048" cy="3337560"/>
          </a:xfrm>
          <a:prstGeom prst="roundRect">
            <a:avLst>
              <a:gd name="adj" fmla="val 2192"/>
            </a:avLst>
          </a:prstGeom>
          <a:solidFill>
            <a:srgbClr val="E7F3EC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65960"/>
            <a:ext cx="495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since the review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495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utterance / PII removed from NLUResult.url (was a GDPR-risk field)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495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per-turn logging added (stage, confidence, latency — never raw text by default)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495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&amp; context time-based TTL (was turn-count only, could re-fire stale confirmations)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495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slot-fill attempts (3) — was an unbounded retry trap for ASR-clarity users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749040"/>
            <a:ext cx="495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confidence calibrated by match type (was a dishonest flat 1.0)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4114800"/>
            <a:ext cx="495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out-of-scope class in the semantic head (was threshold-only rejection)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4480560"/>
            <a:ext cx="495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overconfidence fixed via temperature scaling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4846320"/>
            <a:ext cx="495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model artifacts (incl. MiniLM + head) now in the SHA-256 manifest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78728" y="1828800"/>
            <a:ext cx="5410048" cy="3337560"/>
          </a:xfrm>
          <a:prstGeom prst="roundRect">
            <a:avLst>
              <a:gd name="adj" fmla="val 2192"/>
            </a:avLst>
          </a:prstGeom>
          <a:solidFill>
            <a:srgbClr val="F8E9E8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07328" y="1965960"/>
            <a:ext cx="495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open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07328" y="2286000"/>
            <a:ext cx="49528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Dual-inference risk: Python/ONNX and iOS hand-rolled scorer are separate code paths — a conformance test exists (test_ios_conformance.py) but ONNX-on-iOS is the preferred long-term fix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07328" y="2752344"/>
            <a:ext cx="49528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is not tamper-proof — no private-key signing, only accidental-corruption detection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07328" y="3218688"/>
            <a:ext cx="49528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regex-tier interrupt bug: a long utterance with an embedded command phrase can still wrongly interrupt a slot-fill flow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07328" y="3685032"/>
            <a:ext cx="49528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OOM on low-memory devices fails silently (try/except swallows it) — no diagnostic event yet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07328" y="4151376"/>
            <a:ext cx="49528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graceful offline message when GenAI fallback is unreachable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07328" y="4617720"/>
            <a:ext cx="49528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training scripts only — no CI/CD trigger on data commits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· PRODUCTION READINESS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Problem: On-Device Memory Footprint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088575" y="713232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BEEE0"/>
          </a:solidFill>
          <a:ln/>
        </p:spPr>
      </p:sp>
      <p:sp>
        <p:nvSpPr>
          <p:cNvPr id="5" name="Text 3"/>
          <p:cNvSpPr/>
          <p:nvPr/>
        </p:nvSpPr>
        <p:spPr>
          <a:xfrm>
            <a:off x="10088575" y="7132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STAGE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11185855" cy="1051560"/>
          </a:xfrm>
          <a:prstGeom prst="roundRect">
            <a:avLst>
              <a:gd name="adj" fmla="val 6957"/>
            </a:avLst>
          </a:prstGeom>
          <a:solidFill>
            <a:srgbClr val="F8E9E8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78308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3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</a:t>
            </a:r>
            <a:pPr indent="0" marL="0">
              <a:buNone/>
            </a:pPr>
            <a:r>
              <a:rPr lang="en-US" sz="125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is ~45 MB FP16 on disk, but is reportedly consuming over 100 MB of iOS RAM — a ~55 MB runtime overhead that is very likely fixable in days, with zero accuracy loss, before touching the model architecture at all.</a:t>
            </a:r>
            <a:endParaRPr lang="en-US" sz="12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834640"/>
          <a:ext cx="11185855" cy="2286000"/>
        </p:xfrm>
        <a:graphic>
          <a:graphicData uri="http://schemas.openxmlformats.org/drawingml/2006/table">
            <a:tbl>
              <a:tblPr/>
              <a:tblGrid>
                <a:gridCol w="894868"/>
                <a:gridCol w="5592928"/>
                <a:gridCol w="1677878"/>
                <a:gridCol w="3020181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Diagnose where the 100 MB actually goes (Instruments)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do first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compute unit, fixed sequence shape, lazy load/unload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1–3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often the whole fix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4-bit palettization, vocab pruning (30.5k → ~7k tokens)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2–5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small, measurable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Distill to a 2–4 layer student encoder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1–3 weeks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small–moderate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embeddings (Model2Vec) — drop the transformer entirely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3–7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moderate, highest upside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5257800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architectural fact: 52% of MiniLM's 22.7M parameters live in the token-embedding table (30,522 × 384) — layer distillation alone cannot shrink this. Vocab pruning or dropping the transformer (Tier 4) is what actually attacks it.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58521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this is a written proposal, not yet executed. Recommendation: run Tier 0+1 immediately (days, zero risk) before considering distillation.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·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484778" cy="429768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45920"/>
            <a:ext cx="348477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45920"/>
            <a:ext cx="31190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04088" y="2377440"/>
            <a:ext cx="308244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Stage 2 + 3 end-to-end on Android; validate against real commands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704088" y="3246120"/>
            <a:ext cx="308244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Stage 2 + 3 end-to-end on iOS via Core ML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704088" y="4114800"/>
            <a:ext cx="308244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semantic_holdout on each native implementation — target parity with Python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704088" y="4983480"/>
            <a:ext cx="308244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0+1 memory diagnosis on iOS (Instruments, fixed shape, lazy load)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353458" y="1645920"/>
            <a:ext cx="3484778" cy="429768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53458" y="1645920"/>
            <a:ext cx="3484778" cy="502920"/>
          </a:xfrm>
          <a:prstGeom prst="rect">
            <a:avLst/>
          </a:prstGeom>
          <a:solidFill>
            <a:srgbClr val="5C6B8A"/>
          </a:solidFill>
          <a:ln/>
        </p:spPr>
      </p:sp>
      <p:sp>
        <p:nvSpPr>
          <p:cNvPr id="13" name="Text 11"/>
          <p:cNvSpPr/>
          <p:nvPr/>
        </p:nvSpPr>
        <p:spPr>
          <a:xfrm>
            <a:off x="4536338" y="1645920"/>
            <a:ext cx="31190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54626" y="2377440"/>
            <a:ext cx="308244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onto a single, full-60-intent holdout benchmark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4554626" y="3246120"/>
            <a:ext cx="308244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OOS corpus (156 → 400–600 phrases) and tail-class training data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4554626" y="4114800"/>
            <a:ext cx="308244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regex-tier slot-interrupt bug (standalone-command detection)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4554626" y="4983480"/>
            <a:ext cx="308244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iOS/Python conformance test suite (P0 in the architecture review)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8203997" y="1645920"/>
            <a:ext cx="3484778" cy="429768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 w="9525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03997" y="1645920"/>
            <a:ext cx="3484778" cy="502920"/>
          </a:xfrm>
          <a:prstGeom prst="rect">
            <a:avLst/>
          </a:prstGeom>
          <a:solidFill>
            <a:srgbClr val="1E7145"/>
          </a:solidFill>
          <a:ln/>
        </p:spPr>
      </p:sp>
      <p:sp>
        <p:nvSpPr>
          <p:cNvPr id="20" name="Text 18"/>
          <p:cNvSpPr/>
          <p:nvPr/>
        </p:nvSpPr>
        <p:spPr>
          <a:xfrm>
            <a:off x="8386877" y="1645920"/>
            <a:ext cx="31190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Longer-term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05165" y="2377440"/>
            <a:ext cx="308244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CI/CD: training + accuracy gate triggered on data commits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8405165" y="3246120"/>
            <a:ext cx="308244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signing for OTA model update integrity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8405165" y="4114800"/>
            <a:ext cx="308244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model loading with OOM diagnostics + telemetry dashboard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8405165" y="4983480"/>
            <a:ext cx="308244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Tier 3/4 memory optimization (distillation or static embeddings)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251460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sound architecture, an honest gap to production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3429000"/>
            <a:ext cx="98142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3-stage cascade correctly solves the core problem — offline, sub-20ms, privacy-respecting intent classification. What remains is disciplined engineering, not a research risk: mobile wiring, one consolidated benchmark, and the Sprint-2/3 production-hardening items above.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48463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On-Device Intent Classification — Tech Lead Review</dc:title>
  <dc:subject>PptxGenJS Presentation</dc:subject>
  <dc:creator>NLU / ML Team</dc:creator>
  <cp:lastModifiedBy>NLU / ML Team</cp:lastModifiedBy>
  <cp:revision>1</cp:revision>
  <dcterms:created xsi:type="dcterms:W3CDTF">2026-07-08T06:30:21Z</dcterms:created>
  <dcterms:modified xsi:type="dcterms:W3CDTF">2026-07-08T06:30:21Z</dcterms:modified>
</cp:coreProperties>
</file>